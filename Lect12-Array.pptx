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3.bin"/>
  <Override ContentType="application/vnd.openxmlformats-officedocument.oleObject" PartName="/ppt/embeddings/oleObject9.bin"/>
  <Override ContentType="application/vnd.openxmlformats-officedocument.oleObject" PartName="/ppt/embeddings/oleObject6.bin"/>
  <Override ContentType="application/vnd.openxmlformats-officedocument.oleObject" PartName="/ppt/embeddings/oleObject15.bin"/>
  <Override ContentType="application/vnd.openxmlformats-officedocument.oleObject" PartName="/ppt/embeddings/oleObject4.bin"/>
  <Override ContentType="application/vnd.openxmlformats-officedocument.oleObject" PartName="/ppt/embeddings/oleObject1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14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5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2.bin"/>
  <Override ContentType="application/vnd.openxmlformats-officedocument.oleObject" PartName="/ppt/embeddings/oleObject10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2" roundtripDataSignature="AMtx7mgzkr6zZ125f6ZPmewz/S4O1rQ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customschemas.google.com/relationships/presentationmetadata" Target="meta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9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8" name="Google Shape;428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5" name="Google Shape;75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9" name="Google Shape;77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3" name="Google Shape;79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1" name="Google Shape;831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7" name="Google Shape;83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3" name="Google Shape;843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9" name="Google Shape;84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6" name="Google Shape;856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7"/>
          <p:cNvSpPr txBox="1"/>
          <p:nvPr>
            <p:ph type="ctrTitle"/>
          </p:nvPr>
        </p:nvSpPr>
        <p:spPr>
          <a:xfrm>
            <a:off x="2057400" y="1143000"/>
            <a:ext cx="6629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7"/>
          <p:cNvSpPr txBox="1"/>
          <p:nvPr>
            <p:ph idx="1" type="subTitle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57"/>
          <p:cNvSpPr txBox="1"/>
          <p:nvPr>
            <p:ph idx="10" type="dt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7"/>
          <p:cNvSpPr txBox="1"/>
          <p:nvPr>
            <p:ph idx="11" type="ftr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9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5" name="Google Shape;45;p59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9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0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1"/>
          <p:cNvSpPr txBox="1"/>
          <p:nvPr>
            <p:ph type="title"/>
          </p:nvPr>
        </p:nvSpPr>
        <p:spPr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1"/>
          <p:cNvSpPr txBox="1"/>
          <p:nvPr>
            <p:ph idx="1" type="body"/>
          </p:nvPr>
        </p:nvSpPr>
        <p:spPr>
          <a:xfrm>
            <a:off x="9144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2" type="body"/>
          </p:nvPr>
        </p:nvSpPr>
        <p:spPr>
          <a:xfrm>
            <a:off x="48768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7" name="Google Shape;57;p61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1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2"/>
          <p:cNvSpPr txBox="1"/>
          <p:nvPr>
            <p:ph type="title"/>
          </p:nvPr>
        </p:nvSpPr>
        <p:spPr>
          <a:xfrm rot="5400000">
            <a:off x="4788694" y="2232819"/>
            <a:ext cx="5853112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2"/>
          <p:cNvSpPr txBox="1"/>
          <p:nvPr>
            <p:ph idx="1" type="body"/>
          </p:nvPr>
        </p:nvSpPr>
        <p:spPr>
          <a:xfrm rot="5400000">
            <a:off x="826294" y="365919"/>
            <a:ext cx="5853112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3" name="Google Shape;63;p62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2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3"/>
          <p:cNvSpPr txBox="1"/>
          <p:nvPr>
            <p:ph idx="1" type="body"/>
          </p:nvPr>
        </p:nvSpPr>
        <p:spPr>
          <a:xfrm rot="5400000">
            <a:off x="2535237" y="-20638"/>
            <a:ext cx="4530725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9" name="Google Shape;69;p63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6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64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80"/>
              <a:buChar char="■"/>
              <a:defRPr sz="3200"/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12419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82" name="Google Shape;82;p6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65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5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6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6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3" name="Google Shape;93;p6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indent="-3238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29146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94" name="Google Shape;94;p6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6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indent="-3238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29146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96" name="Google Shape;96;p67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7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8"/>
          <p:cNvSpPr txBox="1"/>
          <p:nvPr>
            <p:ph idx="1" type="body"/>
          </p:nvPr>
        </p:nvSpPr>
        <p:spPr>
          <a:xfrm>
            <a:off x="9144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102" name="Google Shape;102;p68"/>
          <p:cNvSpPr txBox="1"/>
          <p:nvPr>
            <p:ph idx="2" type="body"/>
          </p:nvPr>
        </p:nvSpPr>
        <p:spPr>
          <a:xfrm>
            <a:off x="48768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103" name="Google Shape;103;p68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8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9" name="Google Shape;109;p69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9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6"/>
          <p:cNvGrpSpPr/>
          <p:nvPr/>
        </p:nvGrpSpPr>
        <p:grpSpPr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11" name="Google Shape;11;p56"/>
            <p:cNvSpPr txBox="1"/>
            <p:nvPr/>
          </p:nvSpPr>
          <p:spPr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56"/>
            <p:cNvGrpSpPr/>
            <p:nvPr/>
          </p:nvGrpSpPr>
          <p:grpSpPr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3" name="Google Shape;13;p56"/>
              <p:cNvSpPr txBox="1"/>
              <p:nvPr/>
            </p:nvSpPr>
            <p:spPr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56"/>
              <p:cNvSpPr txBox="1"/>
              <p:nvPr/>
            </p:nvSpPr>
            <p:spPr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" name="Google Shape;15;p56"/>
              <p:cNvCxnSpPr/>
              <p:nvPr/>
            </p:nvCxnSpPr>
            <p:spPr>
              <a:xfrm>
                <a:off x="0" y="3072"/>
                <a:ext cx="624" cy="0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6" name="Google Shape;16;p56"/>
            <p:cNvGrpSpPr/>
            <p:nvPr/>
          </p:nvGrpSpPr>
          <p:grpSpPr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17" name="Google Shape;17;p56"/>
              <p:cNvSpPr txBox="1"/>
              <p:nvPr/>
            </p:nvSpPr>
            <p:spPr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" name="Google Shape;18;p56"/>
              <p:cNvCxnSpPr/>
              <p:nvPr/>
            </p:nvCxnSpPr>
            <p:spPr>
              <a:xfrm>
                <a:off x="400" y="432"/>
                <a:ext cx="5088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9" name="Google Shape;19;p5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56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242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927" lvl="2" marL="1371600" marR="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56"/>
          <p:cNvSpPr txBox="1"/>
          <p:nvPr>
            <p:ph idx="10" type="dt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6"/>
          <p:cNvSpPr txBox="1"/>
          <p:nvPr>
            <p:ph idx="11" type="ftr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8"/>
          <p:cNvGrpSpPr/>
          <p:nvPr/>
        </p:nvGrpSpPr>
        <p:grpSpPr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32" name="Google Shape;32;p58"/>
            <p:cNvSpPr txBox="1"/>
            <p:nvPr/>
          </p:nvSpPr>
          <p:spPr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33;p58"/>
            <p:cNvGrpSpPr/>
            <p:nvPr/>
          </p:nvGrpSpPr>
          <p:grpSpPr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34" name="Google Shape;34;p58"/>
              <p:cNvSpPr txBox="1"/>
              <p:nvPr/>
            </p:nvSpPr>
            <p:spPr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" name="Google Shape;35;p58"/>
              <p:cNvCxnSpPr/>
              <p:nvPr/>
            </p:nvCxnSpPr>
            <p:spPr>
              <a:xfrm>
                <a:off x="240" y="941"/>
                <a:ext cx="5232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6" name="Google Shape;36;p5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58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242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927" lvl="2" marL="1371600" marR="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8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58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cxnSp>
        <p:nvCxnSpPr>
          <p:cNvPr id="41" name="Google Shape;41;p58"/>
          <p:cNvCxnSpPr/>
          <p:nvPr/>
        </p:nvCxnSpPr>
        <p:spPr>
          <a:xfrm>
            <a:off x="0" y="4876800"/>
            <a:ext cx="609600" cy="0"/>
          </a:xfrm>
          <a:prstGeom prst="straightConnector1">
            <a:avLst/>
          </a:prstGeom>
          <a:noFill/>
          <a:ln cap="flat" cmpd="sng" w="444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0.bin"/><Relationship Id="rId5" Type="http://schemas.openxmlformats.org/officeDocument/2006/relationships/oleObject" Target="../embeddings/oleObject10.bin"/><Relationship Id="rId6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vmlDrawing" Target="../drawings/vmlDrawing11.vml"/><Relationship Id="rId4" Type="http://schemas.openxmlformats.org/officeDocument/2006/relationships/oleObject" Target="../embeddings/oleObject11.bin"/><Relationship Id="rId5" Type="http://schemas.openxmlformats.org/officeDocument/2006/relationships/oleObject" Target="../embeddings/oleObject11.bin"/><Relationship Id="rId6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vmlDrawing" Target="../drawings/vmlDrawing12.vml"/><Relationship Id="rId4" Type="http://schemas.openxmlformats.org/officeDocument/2006/relationships/oleObject" Target="../embeddings/oleObject12.bin"/><Relationship Id="rId5" Type="http://schemas.openxmlformats.org/officeDocument/2006/relationships/oleObject" Target="../embeddings/oleObject12.bin"/><Relationship Id="rId6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vmlDrawing" Target="../drawings/vmlDrawing13.vml"/><Relationship Id="rId4" Type="http://schemas.openxmlformats.org/officeDocument/2006/relationships/oleObject" Target="../embeddings/oleObject13.bin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vmlDrawing" Target="../drawings/vmlDrawing14.vml"/><Relationship Id="rId4" Type="http://schemas.openxmlformats.org/officeDocument/2006/relationships/oleObject" Target="../embeddings/oleObject14.bin"/><Relationship Id="rId5" Type="http://schemas.openxmlformats.org/officeDocument/2006/relationships/oleObject" Target="../embeddings/oleObject14.bin"/><Relationship Id="rId6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vmlDrawing" Target="../drawings/vmlDrawing15.vml"/><Relationship Id="rId4" Type="http://schemas.openxmlformats.org/officeDocument/2006/relationships/oleObject" Target="../embeddings/oleObject15.bin"/><Relationship Id="rId5" Type="http://schemas.openxmlformats.org/officeDocument/2006/relationships/oleObject" Target="../embeddings/oleObject15.bin"/><Relationship Id="rId6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vmlDrawing" Target="../drawings/vmlDrawing16.vml"/><Relationship Id="rId4" Type="http://schemas.openxmlformats.org/officeDocument/2006/relationships/oleObject" Target="../embeddings/oleObject16.bin"/><Relationship Id="rId5" Type="http://schemas.openxmlformats.org/officeDocument/2006/relationships/oleObject" Target="../embeddings/oleObject16.bin"/><Relationship Id="rId6" Type="http://schemas.openxmlformats.org/officeDocument/2006/relationships/image" Target="../media/image1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 txBox="1"/>
          <p:nvPr>
            <p:ph type="ctrTitle"/>
          </p:nvPr>
        </p:nvSpPr>
        <p:spPr>
          <a:xfrm>
            <a:off x="2057400" y="1377950"/>
            <a:ext cx="6629400" cy="1716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imes New Roman"/>
              <a:buNone/>
            </a:pPr>
            <a:r>
              <a:rPr b="0" i="0" lang="en-US" sz="4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</a:t>
            </a:r>
            <a:endParaRPr/>
          </a:p>
        </p:txBody>
      </p:sp>
      <p:sp>
        <p:nvSpPr>
          <p:cNvPr id="118" name="Google Shape;118;p1"/>
          <p:cNvSpPr txBox="1"/>
          <p:nvPr>
            <p:ph idx="1" type="subTitle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12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Slides of Dr. Norazah Yusof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Introducing Arrays</a:t>
            </a:r>
            <a:endParaRPr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600"/>
              <a:buFont typeface="Noto Sans Symbols"/>
              <a:buChar char="■"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is a data structure that represents a </a:t>
            </a: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collection of the same types of data</a:t>
            </a: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3600"/>
              <a:buFont typeface="Noto Sans Symbols"/>
              <a:buChar char="■"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Java, array is an object that can store a group of values, all of the same type.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and create an array</a:t>
            </a:r>
            <a:endParaRPr/>
          </a:p>
        </p:txBody>
      </p:sp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240"/>
              <a:buFont typeface="Noto Sans Symbols"/>
              <a:buChar char="■"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Declare</a:t>
            </a: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array is similar to create and create any other type of object.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3240"/>
              <a:buFont typeface="Noto Sans Symbols"/>
              <a:buChar char="■"/>
            </a:pP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Example question: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550"/>
              <a:buNone/>
            </a:pPr>
            <a:r>
              <a:rPr b="1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3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Declare and create 10-element double array referenced by the variable, myList.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914400" y="296862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and create an array in two steps</a:t>
            </a:r>
            <a:endParaRPr/>
          </a:p>
        </p:txBody>
      </p:sp>
      <p:sp>
        <p:nvSpPr>
          <p:cNvPr id="138" name="Google Shape;138;p4"/>
          <p:cNvSpPr txBox="1"/>
          <p:nvPr>
            <p:ph idx="1" type="body"/>
          </p:nvPr>
        </p:nvSpPr>
        <p:spPr>
          <a:xfrm>
            <a:off x="609600" y="15240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declare an array reference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6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datatype[] arrayRefVar;</a:t>
            </a:r>
            <a:endParaRPr b="1" i="0" sz="2400" u="none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26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datatype arrayRefVar[];</a:t>
            </a:r>
            <a:r>
              <a:rPr b="1" i="0" lang="en-US" sz="2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// </a:t>
            </a:r>
            <a:r>
              <a:rPr b="1" i="0" lang="en-US" sz="2000" u="sng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This style is allowed, </a:t>
            </a:r>
            <a:r>
              <a:rPr b="1" i="0" lang="en-US" sz="20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			       		       // </a:t>
            </a:r>
            <a:r>
              <a:rPr b="1" i="0" lang="en-US" sz="2000" u="sng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but not preferred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create an array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4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arrayRefVar = new datatype[arraySize];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double[] myList;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 myList = new double[10];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>
            <p:ph type="title"/>
          </p:nvPr>
        </p:nvSpPr>
        <p:spPr>
          <a:xfrm>
            <a:off x="914400" y="296862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and create an array in one step</a:t>
            </a:r>
            <a:endParaRPr/>
          </a:p>
        </p:txBody>
      </p:sp>
      <p:sp>
        <p:nvSpPr>
          <p:cNvPr id="146" name="Google Shape;146;p5"/>
          <p:cNvSpPr txBox="1"/>
          <p:nvPr>
            <p:ph idx="1" type="body"/>
          </p:nvPr>
        </p:nvSpPr>
        <p:spPr>
          <a:xfrm>
            <a:off x="609600" y="1524000"/>
            <a:ext cx="8534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and create the array</a:t>
            </a:r>
            <a:endParaRPr b="1" i="0" sz="26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datatype[] arrayRefVar = new datatype[arraySize];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datatype arrayRefVar[] = new datatype[arraySize];</a:t>
            </a:r>
            <a:endParaRPr b="1" i="0" sz="20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None/>
            </a:pPr>
            <a:r>
              <a:t/>
            </a:r>
            <a:endParaRPr b="1" i="0" sz="20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b="1" i="0" lang="en-US" sz="2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double[] myList = new double[10];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double myList[] = new double[10];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Length of an Array</a:t>
            </a:r>
            <a:endParaRPr/>
          </a:p>
        </p:txBody>
      </p:sp>
      <p:sp>
        <p:nvSpPr>
          <p:cNvPr id="153" name="Google Shape;153;p6"/>
          <p:cNvSpPr txBox="1"/>
          <p:nvPr>
            <p:ph idx="1" type="body"/>
          </p:nvPr>
        </p:nvSpPr>
        <p:spPr>
          <a:xfrm>
            <a:off x="685800" y="175260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an array is created, its size is fixed. It cannot be changed. You can find its size using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SzPts val="2790"/>
              <a:buNone/>
            </a:pPr>
            <a:r>
              <a:rPr b="1" i="0" lang="en-US" sz="31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	arrayRefVar.length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b="1" i="0" sz="2800" u="none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80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1" i="0" lang="en-US" sz="2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myList.length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returns 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685800" y="152400"/>
            <a:ext cx="7772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Values</a:t>
            </a:r>
            <a:endParaRPr/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533400" y="1600200"/>
            <a:ext cx="8610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an array is created, its elements are assigned the </a:t>
            </a:r>
            <a:r>
              <a:rPr b="1" i="0" lang="en-US" sz="30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default value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1" i="0" lang="en-US" sz="2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numeric primitive data types,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1" i="0" lang="en-US" sz="2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'\u0000'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(unicode value) for </a:t>
            </a:r>
            <a:r>
              <a:rPr b="1" i="0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types, and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1" i="0" lang="en-US" sz="2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i="0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 txBox="1"/>
          <p:nvPr>
            <p:ph type="title"/>
          </p:nvPr>
        </p:nvSpPr>
        <p:spPr>
          <a:xfrm>
            <a:off x="693737" y="203200"/>
            <a:ext cx="77724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066800" y="1981200"/>
            <a:ext cx="7162800" cy="45243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8"/>
          <p:cNvGrpSpPr/>
          <p:nvPr/>
        </p:nvGrpSpPr>
        <p:grpSpPr>
          <a:xfrm>
            <a:off x="1157287" y="2684462"/>
            <a:ext cx="6983412" cy="4097337"/>
            <a:chOff x="729" y="1420"/>
            <a:chExt cx="4399" cy="2745"/>
          </a:xfrm>
        </p:grpSpPr>
        <p:sp>
          <p:nvSpPr>
            <p:cNvPr id="169" name="Google Shape;169;p8"/>
            <p:cNvSpPr txBox="1"/>
            <p:nvPr/>
          </p:nvSpPr>
          <p:spPr>
            <a:xfrm>
              <a:off x="3121" y="1771"/>
              <a:ext cx="689" cy="22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3389" y="179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3540" y="17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3389" y="2016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3389" y="2239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3540" y="22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3395" y="2461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8"/>
            <p:cNvSpPr txBox="1"/>
            <p:nvPr/>
          </p:nvSpPr>
          <p:spPr>
            <a:xfrm>
              <a:off x="3570" y="246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8"/>
            <p:cNvSpPr txBox="1"/>
            <p:nvPr/>
          </p:nvSpPr>
          <p:spPr>
            <a:xfrm>
              <a:off x="3408" y="2684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3495" y="268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"/>
            <p:cNvSpPr txBox="1"/>
            <p:nvPr/>
          </p:nvSpPr>
          <p:spPr>
            <a:xfrm>
              <a:off x="3395" y="2907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"/>
            <p:cNvSpPr txBox="1"/>
            <p:nvPr/>
          </p:nvSpPr>
          <p:spPr>
            <a:xfrm>
              <a:off x="3600" y="29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3405" y="3130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 txBox="1"/>
            <p:nvPr/>
          </p:nvSpPr>
          <p:spPr>
            <a:xfrm>
              <a:off x="3525" y="313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3395" y="335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3600" y="335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3395" y="3575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3630" y="357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3395" y="3798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3616" y="379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3465" y="402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2312" y="1420"/>
              <a:ext cx="24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2325" y="1439"/>
              <a:ext cx="237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ourier New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double[] myList = new double[10];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8"/>
            <p:cNvSpPr txBox="1"/>
            <p:nvPr/>
          </p:nvSpPr>
          <p:spPr>
            <a:xfrm>
              <a:off x="4002" y="14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8"/>
            <p:cNvSpPr txBox="1"/>
            <p:nvPr/>
          </p:nvSpPr>
          <p:spPr>
            <a:xfrm>
              <a:off x="1009" y="1700"/>
              <a:ext cx="388" cy="17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8"/>
            <p:cNvSpPr txBox="1"/>
            <p:nvPr/>
          </p:nvSpPr>
          <p:spPr>
            <a:xfrm>
              <a:off x="1036" y="1718"/>
              <a:ext cx="30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1334" y="1718"/>
              <a:ext cx="33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8"/>
            <p:cNvSpPr txBox="1"/>
            <p:nvPr/>
          </p:nvSpPr>
          <p:spPr>
            <a:xfrm>
              <a:off x="1367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1453" y="1700"/>
              <a:ext cx="553" cy="1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8"/>
            <p:cNvSpPr txBox="1"/>
            <p:nvPr/>
          </p:nvSpPr>
          <p:spPr>
            <a:xfrm>
              <a:off x="1507" y="1718"/>
              <a:ext cx="445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8"/>
            <p:cNvSpPr txBox="1"/>
            <p:nvPr/>
          </p:nvSpPr>
          <p:spPr>
            <a:xfrm>
              <a:off x="1950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0" name="Google Shape;200;p8"/>
            <p:cNvGrpSpPr/>
            <p:nvPr/>
          </p:nvGrpSpPr>
          <p:grpSpPr>
            <a:xfrm>
              <a:off x="1954" y="1733"/>
              <a:ext cx="1167" cy="93"/>
              <a:chOff x="1954" y="1829"/>
              <a:chExt cx="1167" cy="93"/>
            </a:xfrm>
          </p:grpSpPr>
          <p:cxnSp>
            <p:nvCxnSpPr>
              <p:cNvPr id="201" name="Google Shape;201;p8"/>
              <p:cNvCxnSpPr/>
              <p:nvPr/>
            </p:nvCxnSpPr>
            <p:spPr>
              <a:xfrm flipH="1">
                <a:off x="1954" y="1874"/>
                <a:ext cx="1107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02" name="Google Shape;202;p8"/>
              <p:cNvSpPr/>
              <p:nvPr/>
            </p:nvSpPr>
            <p:spPr>
              <a:xfrm>
                <a:off x="3028" y="1829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0" y="93"/>
                    </a:moveTo>
                    <a:lnTo>
                      <a:pt x="93" y="45"/>
                    </a:lnTo>
                    <a:lnTo>
                      <a:pt x="0" y="0"/>
                    </a:lnTo>
                    <a:lnTo>
                      <a:pt x="30" y="45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3" name="Google Shape;203;p8"/>
            <p:cNvSpPr txBox="1"/>
            <p:nvPr/>
          </p:nvSpPr>
          <p:spPr>
            <a:xfrm>
              <a:off x="2520" y="1807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2553" y="182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myList[0]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8"/>
            <p:cNvSpPr txBox="1"/>
            <p:nvPr/>
          </p:nvSpPr>
          <p:spPr>
            <a:xfrm>
              <a:off x="3024" y="182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6" name="Google Shape;206;p8"/>
            <p:cNvCxnSpPr/>
            <p:nvPr/>
          </p:nvCxnSpPr>
          <p:spPr>
            <a:xfrm>
              <a:off x="3121" y="1972"/>
              <a:ext cx="674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8"/>
            <p:cNvCxnSpPr/>
            <p:nvPr/>
          </p:nvCxnSpPr>
          <p:spPr>
            <a:xfrm>
              <a:off x="3129" y="2187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8"/>
            <p:cNvCxnSpPr/>
            <p:nvPr/>
          </p:nvCxnSpPr>
          <p:spPr>
            <a:xfrm>
              <a:off x="3129" y="2424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8"/>
            <p:cNvCxnSpPr/>
            <p:nvPr/>
          </p:nvCxnSpPr>
          <p:spPr>
            <a:xfrm>
              <a:off x="3121" y="2646"/>
              <a:ext cx="674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8"/>
            <p:cNvCxnSpPr/>
            <p:nvPr/>
          </p:nvCxnSpPr>
          <p:spPr>
            <a:xfrm>
              <a:off x="3129" y="2854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8"/>
            <p:cNvCxnSpPr/>
            <p:nvPr/>
          </p:nvCxnSpPr>
          <p:spPr>
            <a:xfrm>
              <a:off x="3129" y="3090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8"/>
            <p:cNvCxnSpPr/>
            <p:nvPr/>
          </p:nvCxnSpPr>
          <p:spPr>
            <a:xfrm>
              <a:off x="3143" y="3305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8"/>
            <p:cNvCxnSpPr/>
            <p:nvPr/>
          </p:nvCxnSpPr>
          <p:spPr>
            <a:xfrm>
              <a:off x="3136" y="3542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8"/>
            <p:cNvCxnSpPr/>
            <p:nvPr/>
          </p:nvCxnSpPr>
          <p:spPr>
            <a:xfrm>
              <a:off x="3136" y="3778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5" name="Google Shape;215;p8"/>
            <p:cNvSpPr txBox="1"/>
            <p:nvPr/>
          </p:nvSpPr>
          <p:spPr>
            <a:xfrm>
              <a:off x="2520" y="2001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2553" y="2019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8"/>
            <p:cNvSpPr txBox="1"/>
            <p:nvPr/>
          </p:nvSpPr>
          <p:spPr>
            <a:xfrm>
              <a:off x="3024" y="201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2520" y="2237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2553" y="225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"/>
            <p:cNvSpPr txBox="1"/>
            <p:nvPr/>
          </p:nvSpPr>
          <p:spPr>
            <a:xfrm>
              <a:off x="3024" y="225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2513" y="2445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2546" y="2464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8"/>
            <p:cNvSpPr txBox="1"/>
            <p:nvPr/>
          </p:nvSpPr>
          <p:spPr>
            <a:xfrm>
              <a:off x="3017" y="246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2513" y="2689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8"/>
            <p:cNvSpPr txBox="1"/>
            <p:nvPr/>
          </p:nvSpPr>
          <p:spPr>
            <a:xfrm>
              <a:off x="2546" y="2707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8"/>
            <p:cNvSpPr txBox="1"/>
            <p:nvPr/>
          </p:nvSpPr>
          <p:spPr>
            <a:xfrm>
              <a:off x="3017" y="27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2505" y="2897"/>
              <a:ext cx="539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2538" y="291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 txBox="1"/>
            <p:nvPr/>
          </p:nvSpPr>
          <p:spPr>
            <a:xfrm>
              <a:off x="3010" y="291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 txBox="1"/>
            <p:nvPr/>
          </p:nvSpPr>
          <p:spPr>
            <a:xfrm>
              <a:off x="2513" y="3148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 txBox="1"/>
            <p:nvPr/>
          </p:nvSpPr>
          <p:spPr>
            <a:xfrm>
              <a:off x="2546" y="316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3017" y="316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2513" y="3370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2546" y="3388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 txBox="1"/>
            <p:nvPr/>
          </p:nvSpPr>
          <p:spPr>
            <a:xfrm>
              <a:off x="3017" y="338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2505" y="3606"/>
              <a:ext cx="539" cy="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8"/>
            <p:cNvSpPr txBox="1"/>
            <p:nvPr/>
          </p:nvSpPr>
          <p:spPr>
            <a:xfrm>
              <a:off x="2538" y="362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myList[8]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3010" y="362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2505" y="3821"/>
              <a:ext cx="539" cy="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2538" y="3840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myList[9]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3010" y="384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8"/>
            <p:cNvGrpSpPr/>
            <p:nvPr/>
          </p:nvGrpSpPr>
          <p:grpSpPr>
            <a:xfrm>
              <a:off x="3717" y="2937"/>
              <a:ext cx="615" cy="93"/>
              <a:chOff x="3717" y="3033"/>
              <a:chExt cx="615" cy="93"/>
            </a:xfrm>
          </p:grpSpPr>
          <p:cxnSp>
            <p:nvCxnSpPr>
              <p:cNvPr id="243" name="Google Shape;243;p8"/>
              <p:cNvCxnSpPr/>
              <p:nvPr/>
            </p:nvCxnSpPr>
            <p:spPr>
              <a:xfrm>
                <a:off x="3776" y="3079"/>
                <a:ext cx="556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4" name="Google Shape;244;p8"/>
              <p:cNvSpPr/>
              <p:nvPr/>
            </p:nvSpPr>
            <p:spPr>
              <a:xfrm>
                <a:off x="3717" y="3033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93" y="0"/>
                    </a:moveTo>
                    <a:lnTo>
                      <a:pt x="0" y="46"/>
                    </a:lnTo>
                    <a:lnTo>
                      <a:pt x="93" y="93"/>
                    </a:lnTo>
                    <a:lnTo>
                      <a:pt x="63" y="4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5" name="Google Shape;245;p8"/>
            <p:cNvSpPr txBox="1"/>
            <p:nvPr/>
          </p:nvSpPr>
          <p:spPr>
            <a:xfrm>
              <a:off x="4325" y="2904"/>
              <a:ext cx="803" cy="18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4385" y="2922"/>
              <a:ext cx="687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Element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5065" y="2922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729" y="2237"/>
              <a:ext cx="883" cy="31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795" y="2254"/>
              <a:ext cx="851" cy="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/>
                <a:buNone/>
              </a:pPr>
              <a:r>
                <a:rPr b="1" i="0" lang="en-US" sz="1500" u="none" cap="none" strike="noStrik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reference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977" y="2393"/>
              <a:ext cx="419" cy="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/>
                <a:buNone/>
              </a:pPr>
              <a:r>
                <a:rPr b="1" i="0" lang="en-US" sz="1500" u="none" cap="none" strike="noStrik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1361" y="23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2" name="Google Shape;252;p8"/>
            <p:cNvGrpSpPr/>
            <p:nvPr/>
          </p:nvGrpSpPr>
          <p:grpSpPr>
            <a:xfrm>
              <a:off x="1149" y="1859"/>
              <a:ext cx="93" cy="393"/>
              <a:chOff x="1149" y="1955"/>
              <a:chExt cx="93" cy="393"/>
            </a:xfrm>
          </p:grpSpPr>
          <p:cxnSp>
            <p:nvCxnSpPr>
              <p:cNvPr id="253" name="Google Shape;253;p8"/>
              <p:cNvCxnSpPr/>
              <p:nvPr/>
            </p:nvCxnSpPr>
            <p:spPr>
              <a:xfrm>
                <a:off x="1195" y="2013"/>
                <a:ext cx="1" cy="335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54" name="Google Shape;254;p8"/>
              <p:cNvSpPr/>
              <p:nvPr/>
            </p:nvSpPr>
            <p:spPr>
              <a:xfrm>
                <a:off x="1149" y="1955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93" y="93"/>
                    </a:moveTo>
                    <a:lnTo>
                      <a:pt x="47" y="0"/>
                    </a:lnTo>
                    <a:lnTo>
                      <a:pt x="0" y="93"/>
                    </a:lnTo>
                    <a:lnTo>
                      <a:pt x="47" y="63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8"/>
            <p:cNvSpPr txBox="1"/>
            <p:nvPr/>
          </p:nvSpPr>
          <p:spPr>
            <a:xfrm>
              <a:off x="1059" y="2825"/>
              <a:ext cx="882" cy="31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8"/>
            <p:cNvSpPr txBox="1"/>
            <p:nvPr/>
          </p:nvSpPr>
          <p:spPr>
            <a:xfrm>
              <a:off x="1102" y="2842"/>
              <a:ext cx="834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element at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8"/>
            <p:cNvSpPr txBox="1"/>
            <p:nvPr/>
          </p:nvSpPr>
          <p:spPr>
            <a:xfrm>
              <a:off x="1322" y="2981"/>
              <a:ext cx="35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index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8"/>
            <p:cNvSpPr txBox="1"/>
            <p:nvPr/>
          </p:nvSpPr>
          <p:spPr>
            <a:xfrm>
              <a:off x="1676" y="298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" name="Google Shape;259;p8"/>
            <p:cNvGrpSpPr/>
            <p:nvPr/>
          </p:nvGrpSpPr>
          <p:grpSpPr>
            <a:xfrm>
              <a:off x="1932" y="2930"/>
              <a:ext cx="582" cy="93"/>
              <a:chOff x="1932" y="3026"/>
              <a:chExt cx="582" cy="93"/>
            </a:xfrm>
          </p:grpSpPr>
          <p:cxnSp>
            <p:nvCxnSpPr>
              <p:cNvPr id="260" name="Google Shape;260;p8"/>
              <p:cNvCxnSpPr/>
              <p:nvPr/>
            </p:nvCxnSpPr>
            <p:spPr>
              <a:xfrm flipH="1">
                <a:off x="1932" y="3071"/>
                <a:ext cx="520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61" name="Google Shape;261;p8"/>
              <p:cNvSpPr/>
              <p:nvPr/>
            </p:nvSpPr>
            <p:spPr>
              <a:xfrm>
                <a:off x="2420" y="3026"/>
                <a:ext cx="94" cy="93"/>
              </a:xfrm>
              <a:custGeom>
                <a:rect b="b" l="l" r="r" t="t"/>
                <a:pathLst>
                  <a:path extrusionOk="0" h="93" w="94">
                    <a:moveTo>
                      <a:pt x="0" y="93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30" y="47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" name="Google Shape;262;p8"/>
          <p:cNvSpPr txBox="1"/>
          <p:nvPr/>
        </p:nvSpPr>
        <p:spPr>
          <a:xfrm>
            <a:off x="609600" y="1447800"/>
            <a:ext cx="7848600" cy="115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Subscript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Integer contained within square brackets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Indicates one of array’s variables or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 txBox="1"/>
          <p:nvPr>
            <p:ph type="title"/>
          </p:nvPr>
        </p:nvSpPr>
        <p:spPr>
          <a:xfrm>
            <a:off x="693737" y="203200"/>
            <a:ext cx="77724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609600" y="1600200"/>
            <a:ext cx="7848600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Array’s elements numbered beginning with 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legally use any subscript from 0 through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myList.length-1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" name="Google Shape;270;p9"/>
          <p:cNvGrpSpPr/>
          <p:nvPr/>
        </p:nvGrpSpPr>
        <p:grpSpPr>
          <a:xfrm>
            <a:off x="1157287" y="2684462"/>
            <a:ext cx="6983412" cy="4097337"/>
            <a:chOff x="729" y="1420"/>
            <a:chExt cx="4399" cy="2745"/>
          </a:xfrm>
        </p:grpSpPr>
        <p:sp>
          <p:nvSpPr>
            <p:cNvPr id="271" name="Google Shape;271;p9"/>
            <p:cNvSpPr txBox="1"/>
            <p:nvPr/>
          </p:nvSpPr>
          <p:spPr>
            <a:xfrm>
              <a:off x="3121" y="1771"/>
              <a:ext cx="689" cy="22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3389" y="179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"/>
            <p:cNvSpPr txBox="1"/>
            <p:nvPr/>
          </p:nvSpPr>
          <p:spPr>
            <a:xfrm>
              <a:off x="3540" y="17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 txBox="1"/>
            <p:nvPr/>
          </p:nvSpPr>
          <p:spPr>
            <a:xfrm>
              <a:off x="3389" y="2016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3389" y="2239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 txBox="1"/>
            <p:nvPr/>
          </p:nvSpPr>
          <p:spPr>
            <a:xfrm>
              <a:off x="3540" y="22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 txBox="1"/>
            <p:nvPr/>
          </p:nvSpPr>
          <p:spPr>
            <a:xfrm>
              <a:off x="3395" y="2461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3570" y="246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"/>
            <p:cNvSpPr txBox="1"/>
            <p:nvPr/>
          </p:nvSpPr>
          <p:spPr>
            <a:xfrm>
              <a:off x="3408" y="2684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"/>
            <p:cNvSpPr txBox="1"/>
            <p:nvPr/>
          </p:nvSpPr>
          <p:spPr>
            <a:xfrm>
              <a:off x="3495" y="268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"/>
            <p:cNvSpPr txBox="1"/>
            <p:nvPr/>
          </p:nvSpPr>
          <p:spPr>
            <a:xfrm>
              <a:off x="3395" y="2907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"/>
            <p:cNvSpPr txBox="1"/>
            <p:nvPr/>
          </p:nvSpPr>
          <p:spPr>
            <a:xfrm>
              <a:off x="3600" y="29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3405" y="3130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3525" y="313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9"/>
            <p:cNvSpPr txBox="1"/>
            <p:nvPr/>
          </p:nvSpPr>
          <p:spPr>
            <a:xfrm>
              <a:off x="3395" y="335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9"/>
            <p:cNvSpPr txBox="1"/>
            <p:nvPr/>
          </p:nvSpPr>
          <p:spPr>
            <a:xfrm>
              <a:off x="3600" y="335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 txBox="1"/>
            <p:nvPr/>
          </p:nvSpPr>
          <p:spPr>
            <a:xfrm>
              <a:off x="3395" y="3575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 txBox="1"/>
            <p:nvPr/>
          </p:nvSpPr>
          <p:spPr>
            <a:xfrm>
              <a:off x="3630" y="357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"/>
            <p:cNvSpPr txBox="1"/>
            <p:nvPr/>
          </p:nvSpPr>
          <p:spPr>
            <a:xfrm>
              <a:off x="3395" y="3798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"/>
            <p:cNvSpPr txBox="1"/>
            <p:nvPr/>
          </p:nvSpPr>
          <p:spPr>
            <a:xfrm>
              <a:off x="3616" y="379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"/>
            <p:cNvSpPr txBox="1"/>
            <p:nvPr/>
          </p:nvSpPr>
          <p:spPr>
            <a:xfrm>
              <a:off x="3465" y="402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9"/>
            <p:cNvSpPr txBox="1"/>
            <p:nvPr/>
          </p:nvSpPr>
          <p:spPr>
            <a:xfrm>
              <a:off x="2312" y="1420"/>
              <a:ext cx="24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"/>
            <p:cNvSpPr txBox="1"/>
            <p:nvPr/>
          </p:nvSpPr>
          <p:spPr>
            <a:xfrm>
              <a:off x="2325" y="1439"/>
              <a:ext cx="237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ourier New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double[] myList = new double[10];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 txBox="1"/>
            <p:nvPr/>
          </p:nvSpPr>
          <p:spPr>
            <a:xfrm>
              <a:off x="4002" y="14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"/>
            <p:cNvSpPr txBox="1"/>
            <p:nvPr/>
          </p:nvSpPr>
          <p:spPr>
            <a:xfrm>
              <a:off x="1009" y="1700"/>
              <a:ext cx="388" cy="17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"/>
            <p:cNvSpPr txBox="1"/>
            <p:nvPr/>
          </p:nvSpPr>
          <p:spPr>
            <a:xfrm>
              <a:off x="1036" y="1718"/>
              <a:ext cx="30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"/>
            <p:cNvSpPr txBox="1"/>
            <p:nvPr/>
          </p:nvSpPr>
          <p:spPr>
            <a:xfrm>
              <a:off x="1334" y="1718"/>
              <a:ext cx="33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"/>
            <p:cNvSpPr txBox="1"/>
            <p:nvPr/>
          </p:nvSpPr>
          <p:spPr>
            <a:xfrm>
              <a:off x="1367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"/>
            <p:cNvSpPr txBox="1"/>
            <p:nvPr/>
          </p:nvSpPr>
          <p:spPr>
            <a:xfrm>
              <a:off x="1453" y="1700"/>
              <a:ext cx="553" cy="1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9"/>
            <p:cNvSpPr txBox="1"/>
            <p:nvPr/>
          </p:nvSpPr>
          <p:spPr>
            <a:xfrm>
              <a:off x="1507" y="1718"/>
              <a:ext cx="445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"/>
            <p:cNvSpPr txBox="1"/>
            <p:nvPr/>
          </p:nvSpPr>
          <p:spPr>
            <a:xfrm>
              <a:off x="1950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" name="Google Shape;302;p9"/>
            <p:cNvGrpSpPr/>
            <p:nvPr/>
          </p:nvGrpSpPr>
          <p:grpSpPr>
            <a:xfrm>
              <a:off x="1954" y="1733"/>
              <a:ext cx="1167" cy="93"/>
              <a:chOff x="1954" y="1829"/>
              <a:chExt cx="1167" cy="93"/>
            </a:xfrm>
          </p:grpSpPr>
          <p:cxnSp>
            <p:nvCxnSpPr>
              <p:cNvPr id="303" name="Google Shape;303;p9"/>
              <p:cNvCxnSpPr/>
              <p:nvPr/>
            </p:nvCxnSpPr>
            <p:spPr>
              <a:xfrm flipH="1">
                <a:off x="1954" y="1874"/>
                <a:ext cx="1107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04" name="Google Shape;304;p9"/>
              <p:cNvSpPr/>
              <p:nvPr/>
            </p:nvSpPr>
            <p:spPr>
              <a:xfrm>
                <a:off x="3028" y="1829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0" y="93"/>
                    </a:moveTo>
                    <a:lnTo>
                      <a:pt x="93" y="45"/>
                    </a:lnTo>
                    <a:lnTo>
                      <a:pt x="0" y="0"/>
                    </a:lnTo>
                    <a:lnTo>
                      <a:pt x="30" y="45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9"/>
            <p:cNvSpPr txBox="1"/>
            <p:nvPr/>
          </p:nvSpPr>
          <p:spPr>
            <a:xfrm>
              <a:off x="2520" y="1807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"/>
            <p:cNvSpPr txBox="1"/>
            <p:nvPr/>
          </p:nvSpPr>
          <p:spPr>
            <a:xfrm>
              <a:off x="2553" y="182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myList[0]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"/>
            <p:cNvSpPr txBox="1"/>
            <p:nvPr/>
          </p:nvSpPr>
          <p:spPr>
            <a:xfrm>
              <a:off x="3024" y="182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8" name="Google Shape;308;p9"/>
            <p:cNvCxnSpPr/>
            <p:nvPr/>
          </p:nvCxnSpPr>
          <p:spPr>
            <a:xfrm>
              <a:off x="3121" y="1972"/>
              <a:ext cx="674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9"/>
            <p:cNvCxnSpPr/>
            <p:nvPr/>
          </p:nvCxnSpPr>
          <p:spPr>
            <a:xfrm>
              <a:off x="3129" y="2187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9"/>
            <p:cNvCxnSpPr/>
            <p:nvPr/>
          </p:nvCxnSpPr>
          <p:spPr>
            <a:xfrm>
              <a:off x="3129" y="2424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9"/>
            <p:cNvCxnSpPr/>
            <p:nvPr/>
          </p:nvCxnSpPr>
          <p:spPr>
            <a:xfrm>
              <a:off x="3121" y="2646"/>
              <a:ext cx="674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9"/>
            <p:cNvCxnSpPr/>
            <p:nvPr/>
          </p:nvCxnSpPr>
          <p:spPr>
            <a:xfrm>
              <a:off x="3129" y="2854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3129" y="3090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9"/>
            <p:cNvCxnSpPr/>
            <p:nvPr/>
          </p:nvCxnSpPr>
          <p:spPr>
            <a:xfrm>
              <a:off x="3143" y="3305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3136" y="3542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>
              <a:off x="3136" y="3778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7" name="Google Shape;317;p9"/>
            <p:cNvSpPr txBox="1"/>
            <p:nvPr/>
          </p:nvSpPr>
          <p:spPr>
            <a:xfrm>
              <a:off x="2520" y="2001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"/>
            <p:cNvSpPr txBox="1"/>
            <p:nvPr/>
          </p:nvSpPr>
          <p:spPr>
            <a:xfrm>
              <a:off x="2553" y="2019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"/>
            <p:cNvSpPr txBox="1"/>
            <p:nvPr/>
          </p:nvSpPr>
          <p:spPr>
            <a:xfrm>
              <a:off x="3024" y="201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2520" y="2237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"/>
            <p:cNvSpPr txBox="1"/>
            <p:nvPr/>
          </p:nvSpPr>
          <p:spPr>
            <a:xfrm>
              <a:off x="2553" y="225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3024" y="225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"/>
            <p:cNvSpPr txBox="1"/>
            <p:nvPr/>
          </p:nvSpPr>
          <p:spPr>
            <a:xfrm>
              <a:off x="2513" y="2445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"/>
            <p:cNvSpPr txBox="1"/>
            <p:nvPr/>
          </p:nvSpPr>
          <p:spPr>
            <a:xfrm>
              <a:off x="2546" y="2464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"/>
            <p:cNvSpPr txBox="1"/>
            <p:nvPr/>
          </p:nvSpPr>
          <p:spPr>
            <a:xfrm>
              <a:off x="3017" y="246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"/>
            <p:cNvSpPr txBox="1"/>
            <p:nvPr/>
          </p:nvSpPr>
          <p:spPr>
            <a:xfrm>
              <a:off x="2513" y="2689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"/>
            <p:cNvSpPr txBox="1"/>
            <p:nvPr/>
          </p:nvSpPr>
          <p:spPr>
            <a:xfrm>
              <a:off x="2546" y="2707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"/>
            <p:cNvSpPr txBox="1"/>
            <p:nvPr/>
          </p:nvSpPr>
          <p:spPr>
            <a:xfrm>
              <a:off x="3017" y="27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"/>
            <p:cNvSpPr txBox="1"/>
            <p:nvPr/>
          </p:nvSpPr>
          <p:spPr>
            <a:xfrm>
              <a:off x="2505" y="2897"/>
              <a:ext cx="539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"/>
            <p:cNvSpPr txBox="1"/>
            <p:nvPr/>
          </p:nvSpPr>
          <p:spPr>
            <a:xfrm>
              <a:off x="2538" y="291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3010" y="291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"/>
            <p:cNvSpPr txBox="1"/>
            <p:nvPr/>
          </p:nvSpPr>
          <p:spPr>
            <a:xfrm>
              <a:off x="2513" y="3148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"/>
            <p:cNvSpPr txBox="1"/>
            <p:nvPr/>
          </p:nvSpPr>
          <p:spPr>
            <a:xfrm>
              <a:off x="2546" y="316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3017" y="316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9"/>
            <p:cNvSpPr txBox="1"/>
            <p:nvPr/>
          </p:nvSpPr>
          <p:spPr>
            <a:xfrm>
              <a:off x="2513" y="3370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9"/>
            <p:cNvSpPr txBox="1"/>
            <p:nvPr/>
          </p:nvSpPr>
          <p:spPr>
            <a:xfrm>
              <a:off x="2546" y="3388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3017" y="338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2505" y="3606"/>
              <a:ext cx="539" cy="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9"/>
            <p:cNvSpPr txBox="1"/>
            <p:nvPr/>
          </p:nvSpPr>
          <p:spPr>
            <a:xfrm>
              <a:off x="2538" y="362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myList[8]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9"/>
            <p:cNvSpPr txBox="1"/>
            <p:nvPr/>
          </p:nvSpPr>
          <p:spPr>
            <a:xfrm>
              <a:off x="3010" y="362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9"/>
            <p:cNvSpPr txBox="1"/>
            <p:nvPr/>
          </p:nvSpPr>
          <p:spPr>
            <a:xfrm>
              <a:off x="2505" y="3821"/>
              <a:ext cx="539" cy="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"/>
            <p:cNvSpPr txBox="1"/>
            <p:nvPr/>
          </p:nvSpPr>
          <p:spPr>
            <a:xfrm>
              <a:off x="2538" y="3840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myList[9]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9"/>
            <p:cNvSpPr txBox="1"/>
            <p:nvPr/>
          </p:nvSpPr>
          <p:spPr>
            <a:xfrm>
              <a:off x="3010" y="384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" name="Google Shape;344;p9"/>
            <p:cNvGrpSpPr/>
            <p:nvPr/>
          </p:nvGrpSpPr>
          <p:grpSpPr>
            <a:xfrm>
              <a:off x="3717" y="2937"/>
              <a:ext cx="615" cy="93"/>
              <a:chOff x="3717" y="3033"/>
              <a:chExt cx="615" cy="93"/>
            </a:xfrm>
          </p:grpSpPr>
          <p:cxnSp>
            <p:nvCxnSpPr>
              <p:cNvPr id="345" name="Google Shape;345;p9"/>
              <p:cNvCxnSpPr/>
              <p:nvPr/>
            </p:nvCxnSpPr>
            <p:spPr>
              <a:xfrm>
                <a:off x="3776" y="3079"/>
                <a:ext cx="556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6" name="Google Shape;346;p9"/>
              <p:cNvSpPr/>
              <p:nvPr/>
            </p:nvSpPr>
            <p:spPr>
              <a:xfrm>
                <a:off x="3717" y="3033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93" y="0"/>
                    </a:moveTo>
                    <a:lnTo>
                      <a:pt x="0" y="46"/>
                    </a:lnTo>
                    <a:lnTo>
                      <a:pt x="93" y="93"/>
                    </a:lnTo>
                    <a:lnTo>
                      <a:pt x="63" y="4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7" name="Google Shape;347;p9"/>
            <p:cNvSpPr txBox="1"/>
            <p:nvPr/>
          </p:nvSpPr>
          <p:spPr>
            <a:xfrm>
              <a:off x="4325" y="2904"/>
              <a:ext cx="803" cy="18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"/>
            <p:cNvSpPr txBox="1"/>
            <p:nvPr/>
          </p:nvSpPr>
          <p:spPr>
            <a:xfrm>
              <a:off x="4385" y="2922"/>
              <a:ext cx="687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Element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9"/>
            <p:cNvSpPr txBox="1"/>
            <p:nvPr/>
          </p:nvSpPr>
          <p:spPr>
            <a:xfrm>
              <a:off x="5065" y="2922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9"/>
            <p:cNvSpPr txBox="1"/>
            <p:nvPr/>
          </p:nvSpPr>
          <p:spPr>
            <a:xfrm>
              <a:off x="729" y="2237"/>
              <a:ext cx="883" cy="31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9"/>
            <p:cNvSpPr txBox="1"/>
            <p:nvPr/>
          </p:nvSpPr>
          <p:spPr>
            <a:xfrm>
              <a:off x="795" y="2254"/>
              <a:ext cx="851" cy="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/>
                <a:buNone/>
              </a:pPr>
              <a:r>
                <a:rPr b="1" i="0" lang="en-US" sz="1500" u="none" cap="none" strike="noStrik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reference</a:t>
              </a: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"/>
            <p:cNvSpPr txBox="1"/>
            <p:nvPr/>
          </p:nvSpPr>
          <p:spPr>
            <a:xfrm>
              <a:off x="977" y="2393"/>
              <a:ext cx="419" cy="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/>
                <a:buNone/>
              </a:pPr>
              <a:r>
                <a:rPr b="1" i="0" lang="en-US" sz="1500" u="none" cap="none" strike="noStrik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9"/>
            <p:cNvSpPr txBox="1"/>
            <p:nvPr/>
          </p:nvSpPr>
          <p:spPr>
            <a:xfrm>
              <a:off x="1361" y="23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" name="Google Shape;354;p9"/>
            <p:cNvGrpSpPr/>
            <p:nvPr/>
          </p:nvGrpSpPr>
          <p:grpSpPr>
            <a:xfrm>
              <a:off x="1149" y="1859"/>
              <a:ext cx="93" cy="393"/>
              <a:chOff x="1149" y="1955"/>
              <a:chExt cx="93" cy="393"/>
            </a:xfrm>
          </p:grpSpPr>
          <p:cxnSp>
            <p:nvCxnSpPr>
              <p:cNvPr id="355" name="Google Shape;355;p9"/>
              <p:cNvCxnSpPr/>
              <p:nvPr/>
            </p:nvCxnSpPr>
            <p:spPr>
              <a:xfrm>
                <a:off x="1195" y="2013"/>
                <a:ext cx="1" cy="335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56" name="Google Shape;356;p9"/>
              <p:cNvSpPr/>
              <p:nvPr/>
            </p:nvSpPr>
            <p:spPr>
              <a:xfrm>
                <a:off x="1149" y="1955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93" y="93"/>
                    </a:moveTo>
                    <a:lnTo>
                      <a:pt x="47" y="0"/>
                    </a:lnTo>
                    <a:lnTo>
                      <a:pt x="0" y="93"/>
                    </a:lnTo>
                    <a:lnTo>
                      <a:pt x="47" y="63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7" name="Google Shape;357;p9"/>
            <p:cNvSpPr txBox="1"/>
            <p:nvPr/>
          </p:nvSpPr>
          <p:spPr>
            <a:xfrm>
              <a:off x="1059" y="2825"/>
              <a:ext cx="882" cy="31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9"/>
            <p:cNvSpPr txBox="1"/>
            <p:nvPr/>
          </p:nvSpPr>
          <p:spPr>
            <a:xfrm>
              <a:off x="1102" y="2842"/>
              <a:ext cx="834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element at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9"/>
            <p:cNvSpPr txBox="1"/>
            <p:nvPr/>
          </p:nvSpPr>
          <p:spPr>
            <a:xfrm>
              <a:off x="1322" y="2981"/>
              <a:ext cx="35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index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9"/>
            <p:cNvSpPr txBox="1"/>
            <p:nvPr/>
          </p:nvSpPr>
          <p:spPr>
            <a:xfrm>
              <a:off x="1676" y="298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1" name="Google Shape;361;p9"/>
            <p:cNvGrpSpPr/>
            <p:nvPr/>
          </p:nvGrpSpPr>
          <p:grpSpPr>
            <a:xfrm>
              <a:off x="1932" y="2930"/>
              <a:ext cx="582" cy="93"/>
              <a:chOff x="1932" y="3026"/>
              <a:chExt cx="582" cy="93"/>
            </a:xfrm>
          </p:grpSpPr>
          <p:cxnSp>
            <p:nvCxnSpPr>
              <p:cNvPr id="362" name="Google Shape;362;p9"/>
              <p:cNvCxnSpPr/>
              <p:nvPr/>
            </p:nvCxnSpPr>
            <p:spPr>
              <a:xfrm flipH="1">
                <a:off x="1932" y="3071"/>
                <a:ext cx="520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63" name="Google Shape;363;p9"/>
              <p:cNvSpPr/>
              <p:nvPr/>
            </p:nvSpPr>
            <p:spPr>
              <a:xfrm>
                <a:off x="2420" y="3026"/>
                <a:ext cx="94" cy="93"/>
              </a:xfrm>
              <a:custGeom>
                <a:rect b="b" l="l" r="r" t="t"/>
                <a:pathLst>
                  <a:path extrusionOk="0" h="93" w="94">
                    <a:moveTo>
                      <a:pt x="0" y="93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30" y="47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 test 1</a:t>
            </a:r>
            <a:endParaRPr/>
          </a:p>
        </p:txBody>
      </p:sp>
      <p:sp>
        <p:nvSpPr>
          <p:cNvPr id="370" name="Google Shape;370;p10"/>
          <p:cNvSpPr txBox="1"/>
          <p:nvPr/>
        </p:nvSpPr>
        <p:spPr>
          <a:xfrm>
            <a:off x="608012" y="1666875"/>
            <a:ext cx="7897812" cy="25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and correct the syntax error in each of the following array declaration.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</a:t>
            </a:r>
            <a:r>
              <a:rPr b="1" i="0" lang="en-US" sz="2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int arr = new int[15];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</a:t>
            </a:r>
            <a:r>
              <a:rPr b="1" i="0" lang="en-US" sz="2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int arr[] = new int(15);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</a:t>
            </a:r>
            <a:r>
              <a:rPr b="1" i="0" lang="en-US" sz="2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float arr[] = new [3];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of Self- test 1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608012" y="1590675"/>
            <a:ext cx="789781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and correct the syntax error in each of the following array declaration.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Arial"/>
              <a:buAutoNum type="alphaLcParenBoth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arr = new int[15];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There are missing brackets after arr.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int arr[] = new int(15);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There are parentheses instead of brackets around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float arr[] = new [3];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It should be new float[3] instead of new [3].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 test - 2</a:t>
            </a:r>
            <a:endParaRPr/>
          </a:p>
        </p:txBody>
      </p:sp>
      <p:sp>
        <p:nvSpPr>
          <p:cNvPr id="384" name="Google Shape;384;p12"/>
          <p:cNvSpPr txBox="1"/>
          <p:nvPr>
            <p:ph idx="1" type="body"/>
          </p:nvPr>
        </p:nvSpPr>
        <p:spPr>
          <a:xfrm>
            <a:off x="6858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5 Exercise 3: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the correct Java statement that declare and create the following arrays: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15-element double array referenced by the variable areaOfCircle.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50-element string array referenced by the variable staffName.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25-element int array referenced by the variable total.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100-element double array referenced by the variable gpa that stores the Grade Point Average of the students.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datatype[] arrayRefVar = new datatype[arraySize];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 txBox="1"/>
          <p:nvPr>
            <p:ph type="title"/>
          </p:nvPr>
        </p:nvSpPr>
        <p:spPr>
          <a:xfrm>
            <a:off x="7620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Array Elements</a:t>
            </a:r>
            <a:endParaRPr/>
          </a:p>
        </p:txBody>
      </p:sp>
      <p:sp>
        <p:nvSpPr>
          <p:cNvPr id="391" name="Google Shape;391;p13"/>
          <p:cNvSpPr txBox="1"/>
          <p:nvPr>
            <p:ph idx="1" type="body"/>
          </p:nvPr>
        </p:nvSpPr>
        <p:spPr>
          <a:xfrm>
            <a:off x="762000" y="1752600"/>
            <a:ext cx="815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14859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array elements are accessed through the index, known as indexed variable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23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arrayRefVar[index];</a:t>
            </a:r>
            <a:endParaRPr/>
          </a:p>
          <a:p>
            <a:pPr indent="-13716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indexed variable can be used in the same way as a regular variable.</a:t>
            </a:r>
            <a:endParaRPr/>
          </a:p>
          <a:p>
            <a:pPr indent="-13716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the value of the array element may be assigned as follows: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myList[0] =  5.6;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myList[1] =  myList[0] – 1.1;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Scanner inp = new Scanner(System.in);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myList[2] = inp.nextDouble();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 txBox="1"/>
          <p:nvPr>
            <p:ph type="title"/>
          </p:nvPr>
        </p:nvSpPr>
        <p:spPr>
          <a:xfrm>
            <a:off x="7620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Array Elements</a:t>
            </a:r>
            <a:endParaRPr/>
          </a:p>
        </p:txBody>
      </p:sp>
      <p:sp>
        <p:nvSpPr>
          <p:cNvPr id="398" name="Google Shape;398;p14"/>
          <p:cNvSpPr txBox="1"/>
          <p:nvPr>
            <p:ph idx="1" type="body"/>
          </p:nvPr>
        </p:nvSpPr>
        <p:spPr>
          <a:xfrm>
            <a:off x="762000" y="1752600"/>
            <a:ext cx="8153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14859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array elements can be output using the println method.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b="1" i="0" lang="en-US" sz="2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0" lang="en-US" sz="23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 (myList[0]);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2070"/>
              <a:buNone/>
            </a:pPr>
            <a:r>
              <a:rPr b="1" i="0" lang="en-US" sz="23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 (myList[1]);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2070"/>
              <a:buNone/>
            </a:pPr>
            <a:r>
              <a:rPr b="1" i="0" lang="en-US" sz="23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 (myList[2]);</a:t>
            </a:r>
            <a:endParaRPr/>
          </a:p>
          <a:p>
            <a:pPr indent="-211455" lvl="0" marL="34290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2070"/>
              <a:buNone/>
            </a:pPr>
            <a:r>
              <a:t/>
            </a:r>
            <a:endParaRPr b="1" i="0" sz="2300" u="none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&amp; Trace the output</a:t>
            </a:r>
            <a:endParaRPr/>
          </a:p>
        </p:txBody>
      </p:sp>
      <p:sp>
        <p:nvSpPr>
          <p:cNvPr id="404" name="Google Shape;404;p15"/>
          <p:cNvSpPr txBox="1"/>
          <p:nvPr>
            <p:ph idx="1" type="body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ArrayDemo {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65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 {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int[] anArray; // declares an array of integers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 = new int[10];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allocates memory for 10 integers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anArray[0] = 100; // initialize first element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anArray[1] = 200; // initialize second element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anArray[2] = 300; // etc.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anArray[3] = 400;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anArray[4] = 500;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anArray[5] = 600;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anArray[6] = 700;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anArray[7] = 800;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anArray[8] = 900;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anArray[9] = 1000;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6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0: " + anArray[0]);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1: " + anArray[1]);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2: " + anArray[2]);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3: " + anArray[3]);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4: " + anArray[4]);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5: " + anArray[5]);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6: " + anArray[6]);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7: " + anArray[7]);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8: " + anArray[8]);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9: " + anArray[9]);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17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output from this program is: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0: 100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1: 200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2: 300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3: 400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4: 500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5: 600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6: 700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7: 800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8: 900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9: 1000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Programming, Fourth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loop to cycle through the entire array </a:t>
            </a:r>
            <a:endParaRPr/>
          </a:p>
        </p:txBody>
      </p:sp>
      <p:sp>
        <p:nvSpPr>
          <p:cNvPr id="424" name="Google Shape;424;p18"/>
          <p:cNvSpPr txBox="1"/>
          <p:nvPr>
            <p:ph idx="1" type="body"/>
          </p:nvPr>
        </p:nvSpPr>
        <p:spPr>
          <a:xfrm>
            <a:off x="914400" y="1600200"/>
            <a:ext cx="7772400" cy="50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loops that vary loop control variable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Start at 0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End at one less than size of array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constant that is equal to size of array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final int SIZE = 10;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 for(int i = 0; i &lt; SIZE; i++)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	myList[i] += 3;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using the </a:t>
            </a:r>
            <a:r>
              <a:rPr b="1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field, that contains  the number of elements in array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	for(int i = 0; i &lt; myList.length; i++)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	myList[i] += 3;</a:t>
            </a:r>
            <a:endParaRPr/>
          </a:p>
          <a:p>
            <a:pPr indent="-20574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 i="0" sz="2400" u="none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9"/>
          <p:cNvSpPr txBox="1"/>
          <p:nvPr>
            <p:ph type="title"/>
          </p:nvPr>
        </p:nvSpPr>
        <p:spPr>
          <a:xfrm>
            <a:off x="914400" y="296862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Declaring, creating, initializing Using the Shorthand Notation</a:t>
            </a:r>
            <a:endParaRPr/>
          </a:p>
        </p:txBody>
      </p:sp>
      <p:sp>
        <p:nvSpPr>
          <p:cNvPr id="432" name="Google Shape;432;p19"/>
          <p:cNvSpPr txBox="1"/>
          <p:nvPr>
            <p:ph idx="1" type="body"/>
          </p:nvPr>
        </p:nvSpPr>
        <p:spPr>
          <a:xfrm>
            <a:off x="609600" y="15240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Char char="■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and create the array</a:t>
            </a:r>
            <a:endParaRPr b="1" i="0" sz="3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datatype[] arrayRefVar =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{arrylist1, arrylist2,…};</a:t>
            </a:r>
            <a:endParaRPr b="1" i="0" sz="30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None/>
            </a:pPr>
            <a:r>
              <a:t/>
            </a:r>
            <a:endParaRPr b="1" i="0" sz="30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Char char="■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700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b="1" i="0" lang="en-US" sz="2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double[] myList = {5.6, 4.5, 3.3, 13.2, 4, 34.33, 34, 45.45, 99.993, 11.3};</a:t>
            </a:r>
            <a:endParaRPr b="1" i="0" sz="2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b="1" i="0" sz="2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 txBox="1"/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Declaring, creating, initializing Using the Shorthand Notation</a:t>
            </a:r>
            <a:endParaRPr/>
          </a:p>
        </p:txBody>
      </p:sp>
      <p:sp>
        <p:nvSpPr>
          <p:cNvPr id="439" name="Google Shape;439;p20"/>
          <p:cNvSpPr txBox="1"/>
          <p:nvPr>
            <p:ph idx="1" type="body"/>
          </p:nvPr>
        </p:nvSpPr>
        <p:spPr>
          <a:xfrm>
            <a:off x="533400" y="1905000"/>
            <a:ext cx="8610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double[] myList = {5.6, 4.5, 3.3, 13.2, 4, 34.33,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		34, 45.45, 99.993, 11.3};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shorthand notation is equivalent to the following statements: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double[] myList = new double[10];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myList[0] = 5.6;  myList[1] = 4.5; myList[2] = 3.3;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myList[3] = 13.2; myList[4] = 4;   myList[5] = 34.33;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myList[6] = 34;   myList[7] = 45.45;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myList[8] = 99.993; myList[9] = 11.3;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1"/>
          <p:cNvSpPr txBox="1"/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Times New Roman"/>
              <a:buNone/>
            </a:pPr>
            <a:r>
              <a:rPr b="0" i="0" lang="en-US" sz="4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CAUTION!!</a:t>
            </a:r>
            <a:endParaRPr/>
          </a:p>
        </p:txBody>
      </p:sp>
      <p:sp>
        <p:nvSpPr>
          <p:cNvPr id="446" name="Google Shape;446;p21"/>
          <p:cNvSpPr txBox="1"/>
          <p:nvPr>
            <p:ph idx="1" type="body"/>
          </p:nvPr>
        </p:nvSpPr>
        <p:spPr>
          <a:xfrm>
            <a:off x="762000" y="1600200"/>
            <a:ext cx="762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the shorthand notation, you have to declare, create, and initialize the array all in one statement.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Splitting it would cause a syntax error. For example, the following is wrong: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double[] myList;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myList = {1.9, 2.9, 3.4, 3.5};</a:t>
            </a:r>
            <a:r>
              <a:rPr b="1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2"/>
          <p:cNvSpPr txBox="1"/>
          <p:nvPr>
            <p:ph type="title"/>
          </p:nvPr>
        </p:nvSpPr>
        <p:spPr>
          <a:xfrm>
            <a:off x="693737" y="203200"/>
            <a:ext cx="77724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2770187" y="2198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2171700" y="191293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1066800" y="1981200"/>
            <a:ext cx="7162800" cy="45243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>
            <a:off x="1066800" y="1981200"/>
            <a:ext cx="571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22"/>
          <p:cNvGrpSpPr/>
          <p:nvPr/>
        </p:nvGrpSpPr>
        <p:grpSpPr>
          <a:xfrm>
            <a:off x="1157287" y="2684462"/>
            <a:ext cx="6983412" cy="4097337"/>
            <a:chOff x="729" y="1420"/>
            <a:chExt cx="4399" cy="2745"/>
          </a:xfrm>
        </p:grpSpPr>
        <p:sp>
          <p:nvSpPr>
            <p:cNvPr id="458" name="Google Shape;458;p22"/>
            <p:cNvSpPr txBox="1"/>
            <p:nvPr/>
          </p:nvSpPr>
          <p:spPr>
            <a:xfrm>
              <a:off x="3121" y="1771"/>
              <a:ext cx="689" cy="22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2"/>
            <p:cNvSpPr txBox="1"/>
            <p:nvPr/>
          </p:nvSpPr>
          <p:spPr>
            <a:xfrm>
              <a:off x="3389" y="1793"/>
              <a:ext cx="15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5.6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2"/>
            <p:cNvSpPr txBox="1"/>
            <p:nvPr/>
          </p:nvSpPr>
          <p:spPr>
            <a:xfrm>
              <a:off x="3540" y="17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2"/>
            <p:cNvSpPr txBox="1"/>
            <p:nvPr/>
          </p:nvSpPr>
          <p:spPr>
            <a:xfrm>
              <a:off x="3389" y="2016"/>
              <a:ext cx="15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2"/>
            <p:cNvSpPr txBox="1"/>
            <p:nvPr/>
          </p:nvSpPr>
          <p:spPr>
            <a:xfrm>
              <a:off x="3540" y="201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2"/>
            <p:cNvSpPr txBox="1"/>
            <p:nvPr/>
          </p:nvSpPr>
          <p:spPr>
            <a:xfrm>
              <a:off x="3389" y="2239"/>
              <a:ext cx="15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2"/>
            <p:cNvSpPr txBox="1"/>
            <p:nvPr/>
          </p:nvSpPr>
          <p:spPr>
            <a:xfrm>
              <a:off x="3540" y="22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2"/>
            <p:cNvSpPr txBox="1"/>
            <p:nvPr/>
          </p:nvSpPr>
          <p:spPr>
            <a:xfrm>
              <a:off x="3359" y="2461"/>
              <a:ext cx="21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2"/>
            <p:cNvSpPr txBox="1"/>
            <p:nvPr/>
          </p:nvSpPr>
          <p:spPr>
            <a:xfrm>
              <a:off x="3570" y="246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2"/>
            <p:cNvSpPr txBox="1"/>
            <p:nvPr/>
          </p:nvSpPr>
          <p:spPr>
            <a:xfrm>
              <a:off x="3435" y="2684"/>
              <a:ext cx="6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2"/>
            <p:cNvSpPr txBox="1"/>
            <p:nvPr/>
          </p:nvSpPr>
          <p:spPr>
            <a:xfrm>
              <a:off x="3495" y="268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2"/>
            <p:cNvSpPr txBox="1"/>
            <p:nvPr/>
          </p:nvSpPr>
          <p:spPr>
            <a:xfrm>
              <a:off x="3329" y="2907"/>
              <a:ext cx="27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34.33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3600" y="29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2"/>
            <p:cNvSpPr txBox="1"/>
            <p:nvPr/>
          </p:nvSpPr>
          <p:spPr>
            <a:xfrm>
              <a:off x="3405" y="3130"/>
              <a:ext cx="12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2"/>
            <p:cNvSpPr txBox="1"/>
            <p:nvPr/>
          </p:nvSpPr>
          <p:spPr>
            <a:xfrm>
              <a:off x="3525" y="313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2"/>
            <p:cNvSpPr txBox="1"/>
            <p:nvPr/>
          </p:nvSpPr>
          <p:spPr>
            <a:xfrm>
              <a:off x="3329" y="3353"/>
              <a:ext cx="27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45.45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3600" y="335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2"/>
            <p:cNvSpPr txBox="1"/>
            <p:nvPr/>
          </p:nvSpPr>
          <p:spPr>
            <a:xfrm>
              <a:off x="3299" y="3575"/>
              <a:ext cx="3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99.993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2"/>
            <p:cNvSpPr txBox="1"/>
            <p:nvPr/>
          </p:nvSpPr>
          <p:spPr>
            <a:xfrm>
              <a:off x="3630" y="357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2"/>
            <p:cNvSpPr txBox="1"/>
            <p:nvPr/>
          </p:nvSpPr>
          <p:spPr>
            <a:xfrm>
              <a:off x="3315" y="3798"/>
              <a:ext cx="208" cy="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11.3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2"/>
            <p:cNvSpPr txBox="1"/>
            <p:nvPr/>
          </p:nvSpPr>
          <p:spPr>
            <a:xfrm>
              <a:off x="3616" y="379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2"/>
            <p:cNvSpPr txBox="1"/>
            <p:nvPr/>
          </p:nvSpPr>
          <p:spPr>
            <a:xfrm>
              <a:off x="3465" y="402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2"/>
            <p:cNvSpPr txBox="1"/>
            <p:nvPr/>
          </p:nvSpPr>
          <p:spPr>
            <a:xfrm>
              <a:off x="2312" y="1420"/>
              <a:ext cx="24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2"/>
            <p:cNvSpPr txBox="1"/>
            <p:nvPr/>
          </p:nvSpPr>
          <p:spPr>
            <a:xfrm>
              <a:off x="2325" y="1439"/>
              <a:ext cx="237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ourier New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double[] myList = new double[10];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2"/>
            <p:cNvSpPr txBox="1"/>
            <p:nvPr/>
          </p:nvSpPr>
          <p:spPr>
            <a:xfrm>
              <a:off x="4002" y="14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2"/>
            <p:cNvSpPr txBox="1"/>
            <p:nvPr/>
          </p:nvSpPr>
          <p:spPr>
            <a:xfrm>
              <a:off x="1009" y="1700"/>
              <a:ext cx="388" cy="17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2"/>
            <p:cNvSpPr txBox="1"/>
            <p:nvPr/>
          </p:nvSpPr>
          <p:spPr>
            <a:xfrm>
              <a:off x="1036" y="1718"/>
              <a:ext cx="30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2"/>
            <p:cNvSpPr txBox="1"/>
            <p:nvPr/>
          </p:nvSpPr>
          <p:spPr>
            <a:xfrm>
              <a:off x="1334" y="1718"/>
              <a:ext cx="33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2"/>
            <p:cNvSpPr txBox="1"/>
            <p:nvPr/>
          </p:nvSpPr>
          <p:spPr>
            <a:xfrm>
              <a:off x="1367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2"/>
            <p:cNvSpPr txBox="1"/>
            <p:nvPr/>
          </p:nvSpPr>
          <p:spPr>
            <a:xfrm>
              <a:off x="1453" y="1700"/>
              <a:ext cx="553" cy="1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2"/>
            <p:cNvSpPr txBox="1"/>
            <p:nvPr/>
          </p:nvSpPr>
          <p:spPr>
            <a:xfrm>
              <a:off x="1507" y="1718"/>
              <a:ext cx="445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2"/>
            <p:cNvSpPr txBox="1"/>
            <p:nvPr/>
          </p:nvSpPr>
          <p:spPr>
            <a:xfrm>
              <a:off x="1950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0" name="Google Shape;490;p22"/>
            <p:cNvGrpSpPr/>
            <p:nvPr/>
          </p:nvGrpSpPr>
          <p:grpSpPr>
            <a:xfrm>
              <a:off x="1954" y="1733"/>
              <a:ext cx="1167" cy="93"/>
              <a:chOff x="1954" y="1829"/>
              <a:chExt cx="1167" cy="93"/>
            </a:xfrm>
          </p:grpSpPr>
          <p:cxnSp>
            <p:nvCxnSpPr>
              <p:cNvPr id="491" name="Google Shape;491;p22"/>
              <p:cNvCxnSpPr/>
              <p:nvPr/>
            </p:nvCxnSpPr>
            <p:spPr>
              <a:xfrm flipH="1">
                <a:off x="1954" y="1874"/>
                <a:ext cx="1107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92" name="Google Shape;492;p22"/>
              <p:cNvSpPr/>
              <p:nvPr/>
            </p:nvSpPr>
            <p:spPr>
              <a:xfrm>
                <a:off x="3028" y="1829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0" y="93"/>
                    </a:moveTo>
                    <a:lnTo>
                      <a:pt x="93" y="45"/>
                    </a:lnTo>
                    <a:lnTo>
                      <a:pt x="0" y="0"/>
                    </a:lnTo>
                    <a:lnTo>
                      <a:pt x="30" y="45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3" name="Google Shape;493;p22"/>
            <p:cNvSpPr txBox="1"/>
            <p:nvPr/>
          </p:nvSpPr>
          <p:spPr>
            <a:xfrm>
              <a:off x="2520" y="1807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2"/>
            <p:cNvSpPr txBox="1"/>
            <p:nvPr/>
          </p:nvSpPr>
          <p:spPr>
            <a:xfrm>
              <a:off x="2553" y="182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myList[0]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2"/>
            <p:cNvSpPr txBox="1"/>
            <p:nvPr/>
          </p:nvSpPr>
          <p:spPr>
            <a:xfrm>
              <a:off x="3024" y="182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6" name="Google Shape;496;p22"/>
            <p:cNvCxnSpPr/>
            <p:nvPr/>
          </p:nvCxnSpPr>
          <p:spPr>
            <a:xfrm>
              <a:off x="3121" y="1972"/>
              <a:ext cx="674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" name="Google Shape;497;p22"/>
            <p:cNvCxnSpPr/>
            <p:nvPr/>
          </p:nvCxnSpPr>
          <p:spPr>
            <a:xfrm>
              <a:off x="3129" y="2187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" name="Google Shape;498;p22"/>
            <p:cNvCxnSpPr/>
            <p:nvPr/>
          </p:nvCxnSpPr>
          <p:spPr>
            <a:xfrm>
              <a:off x="3129" y="2424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" name="Google Shape;499;p22"/>
            <p:cNvCxnSpPr/>
            <p:nvPr/>
          </p:nvCxnSpPr>
          <p:spPr>
            <a:xfrm>
              <a:off x="3121" y="2646"/>
              <a:ext cx="674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" name="Google Shape;500;p22"/>
            <p:cNvCxnSpPr/>
            <p:nvPr/>
          </p:nvCxnSpPr>
          <p:spPr>
            <a:xfrm>
              <a:off x="3129" y="2854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" name="Google Shape;501;p22"/>
            <p:cNvCxnSpPr/>
            <p:nvPr/>
          </p:nvCxnSpPr>
          <p:spPr>
            <a:xfrm>
              <a:off x="3129" y="3090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" name="Google Shape;502;p22"/>
            <p:cNvCxnSpPr/>
            <p:nvPr/>
          </p:nvCxnSpPr>
          <p:spPr>
            <a:xfrm>
              <a:off x="3143" y="3305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3" name="Google Shape;503;p22"/>
            <p:cNvCxnSpPr/>
            <p:nvPr/>
          </p:nvCxnSpPr>
          <p:spPr>
            <a:xfrm>
              <a:off x="3136" y="3542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" name="Google Shape;504;p22"/>
            <p:cNvCxnSpPr/>
            <p:nvPr/>
          </p:nvCxnSpPr>
          <p:spPr>
            <a:xfrm>
              <a:off x="3136" y="3778"/>
              <a:ext cx="673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5" name="Google Shape;505;p22"/>
            <p:cNvSpPr txBox="1"/>
            <p:nvPr/>
          </p:nvSpPr>
          <p:spPr>
            <a:xfrm>
              <a:off x="2520" y="2001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2"/>
            <p:cNvSpPr txBox="1"/>
            <p:nvPr/>
          </p:nvSpPr>
          <p:spPr>
            <a:xfrm>
              <a:off x="2553" y="2019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2"/>
            <p:cNvSpPr txBox="1"/>
            <p:nvPr/>
          </p:nvSpPr>
          <p:spPr>
            <a:xfrm>
              <a:off x="3024" y="201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2"/>
            <p:cNvSpPr txBox="1"/>
            <p:nvPr/>
          </p:nvSpPr>
          <p:spPr>
            <a:xfrm>
              <a:off x="2520" y="2237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2"/>
            <p:cNvSpPr txBox="1"/>
            <p:nvPr/>
          </p:nvSpPr>
          <p:spPr>
            <a:xfrm>
              <a:off x="2553" y="225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2"/>
            <p:cNvSpPr txBox="1"/>
            <p:nvPr/>
          </p:nvSpPr>
          <p:spPr>
            <a:xfrm>
              <a:off x="3024" y="225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2"/>
            <p:cNvSpPr txBox="1"/>
            <p:nvPr/>
          </p:nvSpPr>
          <p:spPr>
            <a:xfrm>
              <a:off x="2513" y="2445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2"/>
            <p:cNvSpPr txBox="1"/>
            <p:nvPr/>
          </p:nvSpPr>
          <p:spPr>
            <a:xfrm>
              <a:off x="2546" y="2464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2"/>
            <p:cNvSpPr txBox="1"/>
            <p:nvPr/>
          </p:nvSpPr>
          <p:spPr>
            <a:xfrm>
              <a:off x="3017" y="246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2"/>
            <p:cNvSpPr txBox="1"/>
            <p:nvPr/>
          </p:nvSpPr>
          <p:spPr>
            <a:xfrm>
              <a:off x="2513" y="2689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2"/>
            <p:cNvSpPr txBox="1"/>
            <p:nvPr/>
          </p:nvSpPr>
          <p:spPr>
            <a:xfrm>
              <a:off x="2546" y="2707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2"/>
            <p:cNvSpPr txBox="1"/>
            <p:nvPr/>
          </p:nvSpPr>
          <p:spPr>
            <a:xfrm>
              <a:off x="3017" y="27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2"/>
            <p:cNvSpPr txBox="1"/>
            <p:nvPr/>
          </p:nvSpPr>
          <p:spPr>
            <a:xfrm>
              <a:off x="2505" y="2897"/>
              <a:ext cx="539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2"/>
            <p:cNvSpPr txBox="1"/>
            <p:nvPr/>
          </p:nvSpPr>
          <p:spPr>
            <a:xfrm>
              <a:off x="2538" y="291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2"/>
            <p:cNvSpPr txBox="1"/>
            <p:nvPr/>
          </p:nvSpPr>
          <p:spPr>
            <a:xfrm>
              <a:off x="3010" y="291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2"/>
            <p:cNvSpPr txBox="1"/>
            <p:nvPr/>
          </p:nvSpPr>
          <p:spPr>
            <a:xfrm>
              <a:off x="2513" y="3148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2"/>
            <p:cNvSpPr txBox="1"/>
            <p:nvPr/>
          </p:nvSpPr>
          <p:spPr>
            <a:xfrm>
              <a:off x="2546" y="316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2"/>
            <p:cNvSpPr txBox="1"/>
            <p:nvPr/>
          </p:nvSpPr>
          <p:spPr>
            <a:xfrm>
              <a:off x="3017" y="316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2"/>
            <p:cNvSpPr txBox="1"/>
            <p:nvPr/>
          </p:nvSpPr>
          <p:spPr>
            <a:xfrm>
              <a:off x="2513" y="3370"/>
              <a:ext cx="538" cy="16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2"/>
            <p:cNvSpPr txBox="1"/>
            <p:nvPr/>
          </p:nvSpPr>
          <p:spPr>
            <a:xfrm>
              <a:off x="2546" y="3388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2"/>
            <p:cNvSpPr txBox="1"/>
            <p:nvPr/>
          </p:nvSpPr>
          <p:spPr>
            <a:xfrm>
              <a:off x="3017" y="338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2"/>
            <p:cNvSpPr txBox="1"/>
            <p:nvPr/>
          </p:nvSpPr>
          <p:spPr>
            <a:xfrm>
              <a:off x="2505" y="3606"/>
              <a:ext cx="539" cy="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2"/>
            <p:cNvSpPr txBox="1"/>
            <p:nvPr/>
          </p:nvSpPr>
          <p:spPr>
            <a:xfrm>
              <a:off x="2538" y="362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myList[8]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2"/>
            <p:cNvSpPr txBox="1"/>
            <p:nvPr/>
          </p:nvSpPr>
          <p:spPr>
            <a:xfrm>
              <a:off x="3010" y="362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2"/>
            <p:cNvSpPr txBox="1"/>
            <p:nvPr/>
          </p:nvSpPr>
          <p:spPr>
            <a:xfrm>
              <a:off x="2505" y="3821"/>
              <a:ext cx="539" cy="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2"/>
            <p:cNvSpPr txBox="1"/>
            <p:nvPr/>
          </p:nvSpPr>
          <p:spPr>
            <a:xfrm>
              <a:off x="2538" y="3840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myList[9]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2"/>
            <p:cNvSpPr txBox="1"/>
            <p:nvPr/>
          </p:nvSpPr>
          <p:spPr>
            <a:xfrm>
              <a:off x="3010" y="384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2" name="Google Shape;532;p22"/>
            <p:cNvGrpSpPr/>
            <p:nvPr/>
          </p:nvGrpSpPr>
          <p:grpSpPr>
            <a:xfrm>
              <a:off x="3717" y="2937"/>
              <a:ext cx="615" cy="93"/>
              <a:chOff x="3717" y="3033"/>
              <a:chExt cx="615" cy="93"/>
            </a:xfrm>
          </p:grpSpPr>
          <p:cxnSp>
            <p:nvCxnSpPr>
              <p:cNvPr id="533" name="Google Shape;533;p22"/>
              <p:cNvCxnSpPr/>
              <p:nvPr/>
            </p:nvCxnSpPr>
            <p:spPr>
              <a:xfrm>
                <a:off x="3776" y="3079"/>
                <a:ext cx="556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34" name="Google Shape;534;p22"/>
              <p:cNvSpPr/>
              <p:nvPr/>
            </p:nvSpPr>
            <p:spPr>
              <a:xfrm>
                <a:off x="3717" y="3033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93" y="0"/>
                    </a:moveTo>
                    <a:lnTo>
                      <a:pt x="0" y="46"/>
                    </a:lnTo>
                    <a:lnTo>
                      <a:pt x="93" y="93"/>
                    </a:lnTo>
                    <a:lnTo>
                      <a:pt x="63" y="4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5" name="Google Shape;535;p22"/>
            <p:cNvSpPr txBox="1"/>
            <p:nvPr/>
          </p:nvSpPr>
          <p:spPr>
            <a:xfrm>
              <a:off x="4325" y="2904"/>
              <a:ext cx="803" cy="18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2"/>
            <p:cNvSpPr txBox="1"/>
            <p:nvPr/>
          </p:nvSpPr>
          <p:spPr>
            <a:xfrm>
              <a:off x="4385" y="2922"/>
              <a:ext cx="687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Element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2"/>
            <p:cNvSpPr txBox="1"/>
            <p:nvPr/>
          </p:nvSpPr>
          <p:spPr>
            <a:xfrm>
              <a:off x="5065" y="2922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2"/>
            <p:cNvSpPr txBox="1"/>
            <p:nvPr/>
          </p:nvSpPr>
          <p:spPr>
            <a:xfrm>
              <a:off x="729" y="2237"/>
              <a:ext cx="883" cy="31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2"/>
            <p:cNvSpPr txBox="1"/>
            <p:nvPr/>
          </p:nvSpPr>
          <p:spPr>
            <a:xfrm>
              <a:off x="795" y="2254"/>
              <a:ext cx="785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reference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2"/>
            <p:cNvSpPr txBox="1"/>
            <p:nvPr/>
          </p:nvSpPr>
          <p:spPr>
            <a:xfrm>
              <a:off x="977" y="2393"/>
              <a:ext cx="385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2"/>
            <p:cNvSpPr txBox="1"/>
            <p:nvPr/>
          </p:nvSpPr>
          <p:spPr>
            <a:xfrm>
              <a:off x="1361" y="23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2" name="Google Shape;542;p22"/>
            <p:cNvGrpSpPr/>
            <p:nvPr/>
          </p:nvGrpSpPr>
          <p:grpSpPr>
            <a:xfrm>
              <a:off x="1149" y="1859"/>
              <a:ext cx="93" cy="393"/>
              <a:chOff x="1149" y="1955"/>
              <a:chExt cx="93" cy="393"/>
            </a:xfrm>
          </p:grpSpPr>
          <p:cxnSp>
            <p:nvCxnSpPr>
              <p:cNvPr id="543" name="Google Shape;543;p22"/>
              <p:cNvCxnSpPr/>
              <p:nvPr/>
            </p:nvCxnSpPr>
            <p:spPr>
              <a:xfrm>
                <a:off x="1195" y="2013"/>
                <a:ext cx="1" cy="335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44" name="Google Shape;544;p22"/>
              <p:cNvSpPr/>
              <p:nvPr/>
            </p:nvSpPr>
            <p:spPr>
              <a:xfrm>
                <a:off x="1149" y="1955"/>
                <a:ext cx="93" cy="93"/>
              </a:xfrm>
              <a:custGeom>
                <a:rect b="b" l="l" r="r" t="t"/>
                <a:pathLst>
                  <a:path extrusionOk="0" h="93" w="93">
                    <a:moveTo>
                      <a:pt x="93" y="93"/>
                    </a:moveTo>
                    <a:lnTo>
                      <a:pt x="47" y="0"/>
                    </a:lnTo>
                    <a:lnTo>
                      <a:pt x="0" y="93"/>
                    </a:lnTo>
                    <a:lnTo>
                      <a:pt x="47" y="63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5" name="Google Shape;545;p22"/>
            <p:cNvSpPr txBox="1"/>
            <p:nvPr/>
          </p:nvSpPr>
          <p:spPr>
            <a:xfrm>
              <a:off x="1059" y="2825"/>
              <a:ext cx="882" cy="31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2"/>
            <p:cNvSpPr txBox="1"/>
            <p:nvPr/>
          </p:nvSpPr>
          <p:spPr>
            <a:xfrm>
              <a:off x="1102" y="2842"/>
              <a:ext cx="834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element at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2"/>
            <p:cNvSpPr txBox="1"/>
            <p:nvPr/>
          </p:nvSpPr>
          <p:spPr>
            <a:xfrm>
              <a:off x="1322" y="2981"/>
              <a:ext cx="356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index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2"/>
            <p:cNvSpPr txBox="1"/>
            <p:nvPr/>
          </p:nvSpPr>
          <p:spPr>
            <a:xfrm>
              <a:off x="1676" y="298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p22"/>
            <p:cNvGrpSpPr/>
            <p:nvPr/>
          </p:nvGrpSpPr>
          <p:grpSpPr>
            <a:xfrm>
              <a:off x="1932" y="2930"/>
              <a:ext cx="582" cy="93"/>
              <a:chOff x="1932" y="3026"/>
              <a:chExt cx="582" cy="93"/>
            </a:xfrm>
          </p:grpSpPr>
          <p:cxnSp>
            <p:nvCxnSpPr>
              <p:cNvPr id="550" name="Google Shape;550;p22"/>
              <p:cNvCxnSpPr/>
              <p:nvPr/>
            </p:nvCxnSpPr>
            <p:spPr>
              <a:xfrm flipH="1">
                <a:off x="1932" y="3071"/>
                <a:ext cx="520" cy="1"/>
              </a:xfrm>
              <a:prstGeom prst="straightConnector1">
                <a:avLst/>
              </a:prstGeom>
              <a:noFill/>
              <a:ln cap="flat" cmpd="sng" w="142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51" name="Google Shape;551;p22"/>
              <p:cNvSpPr/>
              <p:nvPr/>
            </p:nvSpPr>
            <p:spPr>
              <a:xfrm>
                <a:off x="2420" y="3026"/>
                <a:ext cx="94" cy="93"/>
              </a:xfrm>
              <a:custGeom>
                <a:rect b="b" l="l" r="r" t="t"/>
                <a:pathLst>
                  <a:path extrusionOk="0" h="93" w="94">
                    <a:moveTo>
                      <a:pt x="0" y="93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30" y="47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2" name="Google Shape;552;p22"/>
          <p:cNvSpPr txBox="1"/>
          <p:nvPr/>
        </p:nvSpPr>
        <p:spPr>
          <a:xfrm>
            <a:off x="609600" y="1600200"/>
            <a:ext cx="78486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Array’s elements numbered beginning with 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legally use any subscript from 0 through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 test 3</a:t>
            </a:r>
            <a:endParaRPr/>
          </a:p>
        </p:txBody>
      </p:sp>
      <p:sp>
        <p:nvSpPr>
          <p:cNvPr id="559" name="Google Shape;559;p23"/>
          <p:cNvSpPr txBox="1"/>
          <p:nvPr/>
        </p:nvSpPr>
        <p:spPr>
          <a:xfrm>
            <a:off x="608012" y="1666875"/>
            <a:ext cx="7897812" cy="191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and correct the syntax error in each of the following array declaration.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float arr[] = new float {1.0,2.0,3.0};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4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of Self- test 3</a:t>
            </a: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608012" y="1590675"/>
            <a:ext cx="789781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and correct the syntax error in each of the following array declaration.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Arial"/>
              <a:buAutoNum type="alphaLcParenBoth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 arr[] = new float {1.0,2.0,3.0};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new should not be there.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5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 test 4</a:t>
            </a:r>
            <a:endParaRPr/>
          </a:p>
        </p:txBody>
      </p:sp>
      <p:sp>
        <p:nvSpPr>
          <p:cNvPr id="573" name="Google Shape;573;p25"/>
          <p:cNvSpPr txBox="1"/>
          <p:nvPr/>
        </p:nvSpPr>
        <p:spPr>
          <a:xfrm>
            <a:off x="608000" y="1819275"/>
            <a:ext cx="7897800" cy="4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the array declaration and initialization is as follows.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arr[] = {2,4,6,8,10};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whether it is valid/invalid?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arr[4] 			(f) arr[ 5 % 2 ]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arr[ arr.length ] 		(g) arr[ arr[ arr[0] ]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arr[ arr[0] ] 		(h) arr[ 5 / 2.0 ]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arr[ arr.length / 2 ] 	(i) arr[ arr[3] /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(e) arr[ arr[1] ] 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of Self- test 4</a:t>
            </a:r>
            <a:endParaRPr/>
          </a:p>
        </p:txBody>
      </p:sp>
      <p:sp>
        <p:nvSpPr>
          <p:cNvPr id="580" name="Google Shape;580;p26"/>
          <p:cNvSpPr txBox="1"/>
          <p:nvPr/>
        </p:nvSpPr>
        <p:spPr>
          <a:xfrm>
            <a:off x="608012" y="1743075"/>
            <a:ext cx="789781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the array declaration and initialization is as follows.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arr[] = {2,4,6,8,10};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whether it is valid/invalid?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(a) 10, 			 (f) 4,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(b) invalid, 		 (g) invalid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(c) 6, 			 (h) invalid,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(d) 6, 			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(i)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(e) 10, 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7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587" name="Google Shape;587;p27"/>
          <p:cNvSpPr txBox="1"/>
          <p:nvPr>
            <p:ph idx="1" type="body"/>
          </p:nvPr>
        </p:nvSpPr>
        <p:spPr>
          <a:xfrm>
            <a:off x="914400" y="2286000"/>
            <a:ext cx="7924800" cy="3200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588" name="Google Shape;588;p27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7"/>
          <p:cNvSpPr txBox="1"/>
          <p:nvPr/>
        </p:nvSpPr>
        <p:spPr>
          <a:xfrm>
            <a:off x="685800" y="1676400"/>
            <a:ext cx="78486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the following program, what will be the output?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8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596" name="Google Shape;596;p28"/>
          <p:cNvSpPr txBox="1"/>
          <p:nvPr>
            <p:ph idx="1" type="body"/>
          </p:nvPr>
        </p:nvSpPr>
        <p:spPr>
          <a:xfrm>
            <a:off x="158750" y="1913062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values[i]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597" name="Google Shape;597;p28"/>
          <p:cNvSpPr/>
          <p:nvPr/>
        </p:nvSpPr>
        <p:spPr>
          <a:xfrm>
            <a:off x="2382837" y="1047750"/>
            <a:ext cx="4186237" cy="768350"/>
          </a:xfrm>
          <a:prstGeom prst="wedgeRoundRectCallout">
            <a:avLst>
              <a:gd fmla="val 4186" name="adj1"/>
              <a:gd fmla="val 46235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array variable values, create an array, and assign its reference to 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8"/>
          <p:cNvSpPr txBox="1"/>
          <p:nvPr/>
        </p:nvSpPr>
        <p:spPr>
          <a:xfrm>
            <a:off x="539750" y="2514600"/>
            <a:ext cx="396240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0" name="Google Shape;600;p28"/>
          <p:cNvGraphicFramePr/>
          <p:nvPr/>
        </p:nvGraphicFramePr>
        <p:xfrm>
          <a:off x="5838825" y="2046287"/>
          <a:ext cx="1958975" cy="2098675"/>
        </p:xfrm>
        <a:graphic>
          <a:graphicData uri="http://schemas.openxmlformats.org/presentationml/2006/ole">
            <mc:AlternateContent>
              <mc:Choice Requires="v">
                <p:oleObj r:id="rId4" imgH="2098675" imgW="1958975" progId="Word.Picture.8" spid="_x0000_s1">
                  <p:embed/>
                </p:oleObj>
              </mc:Choice>
              <mc:Fallback>
                <p:oleObj r:id="rId5" imgH="2098675" imgW="1958975" progId="Word.Picture.8">
                  <p:embed/>
                  <p:pic>
                    <p:nvPicPr>
                      <p:cNvPr id="600" name="Google Shape;600;p2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6287"/>
                        <a:ext cx="195897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1" name="Google Shape;601;p28"/>
          <p:cNvCxnSpPr/>
          <p:nvPr/>
        </p:nvCxnSpPr>
        <p:spPr>
          <a:xfrm>
            <a:off x="4071937" y="2738437"/>
            <a:ext cx="2189162" cy="76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9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08" name="Google Shape;608;p29"/>
          <p:cNvSpPr txBox="1"/>
          <p:nvPr>
            <p:ph idx="1" type="body"/>
          </p:nvPr>
        </p:nvSpPr>
        <p:spPr>
          <a:xfrm>
            <a:off x="228600" y="20193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values[i]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09" name="Google Shape;609;p29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fmla="val -4292" name="adj1"/>
              <a:gd fmla="val 108179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becomes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9"/>
          <p:cNvSpPr txBox="1"/>
          <p:nvPr/>
        </p:nvSpPr>
        <p:spPr>
          <a:xfrm>
            <a:off x="1000125" y="2928937"/>
            <a:ext cx="80645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9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2" name="Google Shape;612;p29"/>
          <p:cNvGraphicFramePr/>
          <p:nvPr/>
        </p:nvGraphicFramePr>
        <p:xfrm>
          <a:off x="5838825" y="2238375"/>
          <a:ext cx="1958975" cy="2098675"/>
        </p:xfrm>
        <a:graphic>
          <a:graphicData uri="http://schemas.openxmlformats.org/presentationml/2006/ole">
            <mc:AlternateContent>
              <mc:Choice Requires="v">
                <p:oleObj r:id="rId4" imgH="2098675" imgW="1958975" progId="Word.Picture.8" spid="_x0000_s1">
                  <p:embed/>
                </p:oleObj>
              </mc:Choice>
              <mc:Fallback>
                <p:oleObj r:id="rId5" imgH="2098675" imgW="1958975" progId="Word.Picture.8">
                  <p:embed/>
                  <p:pic>
                    <p:nvPicPr>
                      <p:cNvPr id="612" name="Google Shape;612;p2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238375"/>
                        <a:ext cx="195897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0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19" name="Google Shape;619;p30"/>
          <p:cNvSpPr txBox="1"/>
          <p:nvPr>
            <p:ph idx="1" type="body"/>
          </p:nvPr>
        </p:nvSpPr>
        <p:spPr>
          <a:xfrm>
            <a:off x="3810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values[i]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20" name="Google Shape;620;p30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fmla="val -893" name="adj1"/>
              <a:gd fmla="val 106840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(=1) is less than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0"/>
          <p:cNvSpPr txBox="1"/>
          <p:nvPr/>
        </p:nvSpPr>
        <p:spPr>
          <a:xfrm>
            <a:off x="1922462" y="2928937"/>
            <a:ext cx="576262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0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3" name="Google Shape;623;p30"/>
          <p:cNvGraphicFramePr/>
          <p:nvPr/>
        </p:nvGraphicFramePr>
        <p:xfrm>
          <a:off x="5838825" y="2314575"/>
          <a:ext cx="1958975" cy="2098675"/>
        </p:xfrm>
        <a:graphic>
          <a:graphicData uri="http://schemas.openxmlformats.org/presentationml/2006/ole">
            <mc:AlternateContent>
              <mc:Choice Requires="v">
                <p:oleObj r:id="rId4" imgH="2098675" imgW="1958975" progId="Word.Picture.8" spid="_x0000_s1">
                  <p:embed/>
                </p:oleObj>
              </mc:Choice>
              <mc:Fallback>
                <p:oleObj r:id="rId5" imgH="2098675" imgW="1958975" progId="Word.Picture.8">
                  <p:embed/>
                  <p:pic>
                    <p:nvPicPr>
                      <p:cNvPr id="623" name="Google Shape;623;p3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314575"/>
                        <a:ext cx="195897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1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30" name="Google Shape;630;p31"/>
          <p:cNvSpPr txBox="1"/>
          <p:nvPr>
            <p:ph idx="1" type="body"/>
          </p:nvPr>
        </p:nvSpPr>
        <p:spPr>
          <a:xfrm>
            <a:off x="2286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2382837" y="1047750"/>
            <a:ext cx="4186237" cy="768350"/>
          </a:xfrm>
          <a:prstGeom prst="wedgeRoundRectCallout">
            <a:avLst>
              <a:gd fmla="val 5873" name="adj1"/>
              <a:gd fmla="val 63015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 line is executed, value[1]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31"/>
          <p:cNvSpPr txBox="1"/>
          <p:nvPr/>
        </p:nvSpPr>
        <p:spPr>
          <a:xfrm>
            <a:off x="501650" y="3236912"/>
            <a:ext cx="396240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1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4" name="Google Shape;634;p31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634" name="Google Shape;634;p3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" name="Google Shape;635;p31"/>
          <p:cNvSpPr txBox="1"/>
          <p:nvPr/>
        </p:nvSpPr>
        <p:spPr>
          <a:xfrm>
            <a:off x="6376987" y="3006725"/>
            <a:ext cx="73025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p31"/>
          <p:cNvCxnSpPr/>
          <p:nvPr/>
        </p:nvCxnSpPr>
        <p:spPr>
          <a:xfrm flipH="1" rot="10800000">
            <a:off x="4149725" y="3160712"/>
            <a:ext cx="2189162" cy="192087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2"/>
          <p:cNvSpPr txBox="1"/>
          <p:nvPr>
            <p:ph type="title"/>
          </p:nvPr>
        </p:nvSpPr>
        <p:spPr>
          <a:xfrm>
            <a:off x="914400" y="277812"/>
            <a:ext cx="7772400" cy="56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43" name="Google Shape;643;p32"/>
          <p:cNvSpPr txBox="1"/>
          <p:nvPr>
            <p:ph idx="1" type="body"/>
          </p:nvPr>
        </p:nvSpPr>
        <p:spPr>
          <a:xfrm>
            <a:off x="838200" y="2057400"/>
            <a:ext cx="4346575" cy="4114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values[i] + values[i-1];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44" name="Google Shape;644;p32"/>
          <p:cNvSpPr/>
          <p:nvPr/>
        </p:nvSpPr>
        <p:spPr>
          <a:xfrm>
            <a:off x="4187825" y="1201737"/>
            <a:ext cx="4186237" cy="384175"/>
          </a:xfrm>
          <a:prstGeom prst="wedgeRoundRectCallout">
            <a:avLst>
              <a:gd fmla="val -5005" name="adj1"/>
              <a:gd fmla="val 98182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i++, i becomes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2"/>
          <p:cNvSpPr txBox="1"/>
          <p:nvPr/>
        </p:nvSpPr>
        <p:spPr>
          <a:xfrm>
            <a:off x="2997200" y="2968625"/>
            <a:ext cx="384175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2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7" name="Google Shape;647;p32"/>
          <p:cNvGraphicFramePr/>
          <p:nvPr/>
        </p:nvGraphicFramePr>
        <p:xfrm>
          <a:off x="6259512" y="2493962"/>
          <a:ext cx="1828800" cy="2155825"/>
        </p:xfrm>
        <a:graphic>
          <a:graphicData uri="http://schemas.openxmlformats.org/presentationml/2006/ole">
            <mc:AlternateContent>
              <mc:Choice Requires="v">
                <p:oleObj r:id="rId4" imgH="2155825" imgW="1828800" progId="Word.Picture.8" spid="_x0000_s1">
                  <p:embed/>
                </p:oleObj>
              </mc:Choice>
              <mc:Fallback>
                <p:oleObj r:id="rId5" imgH="2155825" imgW="1828800" progId="Word.Picture.8">
                  <p:embed/>
                  <p:pic>
                    <p:nvPicPr>
                      <p:cNvPr id="647" name="Google Shape;647;p32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259512" y="2493962"/>
                        <a:ext cx="1828800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3"/>
          <p:cNvSpPr txBox="1"/>
          <p:nvPr>
            <p:ph type="title"/>
          </p:nvPr>
        </p:nvSpPr>
        <p:spPr>
          <a:xfrm>
            <a:off x="914400" y="277812"/>
            <a:ext cx="7772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54" name="Google Shape;654;p33"/>
          <p:cNvSpPr txBox="1"/>
          <p:nvPr>
            <p:ph idx="1" type="body"/>
          </p:nvPr>
        </p:nvSpPr>
        <p:spPr>
          <a:xfrm>
            <a:off x="835025" y="1793875"/>
            <a:ext cx="4346575" cy="45307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values[i] + values[i-1];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55" name="Google Shape;655;p33"/>
          <p:cNvSpPr/>
          <p:nvPr/>
        </p:nvSpPr>
        <p:spPr>
          <a:xfrm>
            <a:off x="4840287" y="1277937"/>
            <a:ext cx="3533775" cy="384175"/>
          </a:xfrm>
          <a:prstGeom prst="wedgeRoundRectCallout">
            <a:avLst>
              <a:gd fmla="val -12197" name="adj1"/>
              <a:gd fmla="val 85061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(= 2) is less than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3"/>
          <p:cNvSpPr txBox="1"/>
          <p:nvPr/>
        </p:nvSpPr>
        <p:spPr>
          <a:xfrm>
            <a:off x="2382837" y="2738437"/>
            <a:ext cx="500062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3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8" name="Google Shape;658;p33"/>
          <p:cNvGraphicFramePr/>
          <p:nvPr/>
        </p:nvGraphicFramePr>
        <p:xfrm>
          <a:off x="6145212" y="2535237"/>
          <a:ext cx="2078037" cy="2452687"/>
        </p:xfrm>
        <a:graphic>
          <a:graphicData uri="http://schemas.openxmlformats.org/presentationml/2006/ole">
            <mc:AlternateContent>
              <mc:Choice Requires="v">
                <p:oleObj r:id="rId4" imgH="2452687" imgW="2078037" progId="Word.Picture.8" spid="_x0000_s1">
                  <p:embed/>
                </p:oleObj>
              </mc:Choice>
              <mc:Fallback>
                <p:oleObj r:id="rId5" imgH="2452687" imgW="2078037" progId="Word.Picture.8">
                  <p:embed/>
                  <p:pic>
                    <p:nvPicPr>
                      <p:cNvPr id="658" name="Google Shape;658;p33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145212" y="2535237"/>
                        <a:ext cx="2078037" cy="245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4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65" name="Google Shape;665;p34"/>
          <p:cNvSpPr txBox="1"/>
          <p:nvPr>
            <p:ph idx="1" type="body"/>
          </p:nvPr>
        </p:nvSpPr>
        <p:spPr>
          <a:xfrm>
            <a:off x="2286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66" name="Google Shape;666;p34"/>
          <p:cNvSpPr/>
          <p:nvPr/>
        </p:nvSpPr>
        <p:spPr>
          <a:xfrm>
            <a:off x="2382837" y="1047750"/>
            <a:ext cx="4186237" cy="768350"/>
          </a:xfrm>
          <a:prstGeom prst="wedgeRoundRectCallout">
            <a:avLst>
              <a:gd fmla="val 5873" name="adj1"/>
              <a:gd fmla="val 63015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 line is executed,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values[2] is 3 (2 + 1)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4"/>
          <p:cNvSpPr txBox="1"/>
          <p:nvPr/>
        </p:nvSpPr>
        <p:spPr>
          <a:xfrm>
            <a:off x="501650" y="3236912"/>
            <a:ext cx="396240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4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9" name="Google Shape;669;p34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669" name="Google Shape;669;p3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" name="Google Shape;670;p34"/>
          <p:cNvSpPr txBox="1"/>
          <p:nvPr/>
        </p:nvSpPr>
        <p:spPr>
          <a:xfrm>
            <a:off x="6376987" y="3275012"/>
            <a:ext cx="73025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p34"/>
          <p:cNvCxnSpPr/>
          <p:nvPr/>
        </p:nvCxnSpPr>
        <p:spPr>
          <a:xfrm>
            <a:off x="4149725" y="3352800"/>
            <a:ext cx="2227262" cy="76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5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78" name="Google Shape;678;p35"/>
          <p:cNvSpPr txBox="1"/>
          <p:nvPr>
            <p:ph idx="1" type="body"/>
          </p:nvPr>
        </p:nvSpPr>
        <p:spPr>
          <a:xfrm>
            <a:off x="3810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79" name="Google Shape;679;p35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fmla="val 2318" name="adj1"/>
              <a:gd fmla="val 106036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this, i becomes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5"/>
          <p:cNvSpPr txBox="1"/>
          <p:nvPr/>
        </p:nvSpPr>
        <p:spPr>
          <a:xfrm>
            <a:off x="2536825" y="2928937"/>
            <a:ext cx="346075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5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2" name="Google Shape;682;p35"/>
          <p:cNvGraphicFramePr/>
          <p:nvPr/>
        </p:nvGraphicFramePr>
        <p:xfrm>
          <a:off x="5838825" y="2046287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682" name="Google Shape;682;p3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6287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6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689" name="Google Shape;689;p36"/>
          <p:cNvSpPr txBox="1"/>
          <p:nvPr>
            <p:ph idx="1" type="body"/>
          </p:nvPr>
        </p:nvSpPr>
        <p:spPr>
          <a:xfrm>
            <a:off x="3810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690" name="Google Shape;690;p36"/>
          <p:cNvSpPr/>
          <p:nvPr/>
        </p:nvSpPr>
        <p:spPr>
          <a:xfrm>
            <a:off x="4111625" y="1163637"/>
            <a:ext cx="4186237" cy="384175"/>
          </a:xfrm>
          <a:prstGeom prst="wedgeRoundRectCallout">
            <a:avLst>
              <a:gd fmla="val -8773" name="adj1"/>
              <a:gd fmla="val 99521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(=3) is still less than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6"/>
          <p:cNvSpPr txBox="1"/>
          <p:nvPr/>
        </p:nvSpPr>
        <p:spPr>
          <a:xfrm>
            <a:off x="1922462" y="2928937"/>
            <a:ext cx="536575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6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3" name="Google Shape;693;p36"/>
          <p:cNvGraphicFramePr/>
          <p:nvPr/>
        </p:nvGraphicFramePr>
        <p:xfrm>
          <a:off x="5838825" y="2046287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693" name="Google Shape;693;p3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6287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7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700" name="Google Shape;700;p37"/>
          <p:cNvSpPr txBox="1"/>
          <p:nvPr>
            <p:ph idx="1" type="body"/>
          </p:nvPr>
        </p:nvSpPr>
        <p:spPr>
          <a:xfrm>
            <a:off x="228600" y="19812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701" name="Google Shape;701;p37"/>
          <p:cNvSpPr/>
          <p:nvPr/>
        </p:nvSpPr>
        <p:spPr>
          <a:xfrm>
            <a:off x="4149725" y="1163637"/>
            <a:ext cx="4724400" cy="384175"/>
          </a:xfrm>
          <a:prstGeom prst="wedgeRoundRectCallout">
            <a:avLst>
              <a:gd fmla="val -3970" name="adj1"/>
              <a:gd fmla="val 114337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 line, values[3] becomes 6 (3 + 3)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7"/>
          <p:cNvSpPr txBox="1"/>
          <p:nvPr/>
        </p:nvSpPr>
        <p:spPr>
          <a:xfrm>
            <a:off x="654050" y="3048000"/>
            <a:ext cx="3417887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7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4" name="Google Shape;704;p37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704" name="Google Shape;704;p3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05" name="Google Shape;705;p37"/>
          <p:cNvCxnSpPr/>
          <p:nvPr/>
        </p:nvCxnSpPr>
        <p:spPr>
          <a:xfrm>
            <a:off x="4149725" y="3352800"/>
            <a:ext cx="2111375" cy="306387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stealth"/>
          </a:ln>
        </p:spPr>
      </p:cxnSp>
      <p:sp>
        <p:nvSpPr>
          <p:cNvPr id="706" name="Google Shape;706;p37"/>
          <p:cNvSpPr txBox="1"/>
          <p:nvPr/>
        </p:nvSpPr>
        <p:spPr>
          <a:xfrm>
            <a:off x="6261100" y="3544887"/>
            <a:ext cx="922337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8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713" name="Google Shape;713;p38"/>
          <p:cNvSpPr txBox="1"/>
          <p:nvPr>
            <p:ph idx="1" type="body"/>
          </p:nvPr>
        </p:nvSpPr>
        <p:spPr>
          <a:xfrm>
            <a:off x="228600" y="19812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714" name="Google Shape;714;p38"/>
          <p:cNvSpPr/>
          <p:nvPr/>
        </p:nvSpPr>
        <p:spPr>
          <a:xfrm>
            <a:off x="4456112" y="1047750"/>
            <a:ext cx="4186237" cy="384175"/>
          </a:xfrm>
          <a:prstGeom prst="wedgeRoundRectCallout">
            <a:avLst>
              <a:gd fmla="val -8347" name="adj1"/>
              <a:gd fmla="val 106929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this, i becomes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8"/>
          <p:cNvSpPr txBox="1"/>
          <p:nvPr/>
        </p:nvSpPr>
        <p:spPr>
          <a:xfrm>
            <a:off x="2536825" y="2928937"/>
            <a:ext cx="346075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8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7" name="Google Shape;717;p38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717" name="Google Shape;717;p3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9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724" name="Google Shape;724;p39"/>
          <p:cNvSpPr txBox="1"/>
          <p:nvPr>
            <p:ph idx="1" type="body"/>
          </p:nvPr>
        </p:nvSpPr>
        <p:spPr>
          <a:xfrm>
            <a:off x="304800" y="20574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725" name="Google Shape;725;p39"/>
          <p:cNvSpPr/>
          <p:nvPr/>
        </p:nvSpPr>
        <p:spPr>
          <a:xfrm>
            <a:off x="4456112" y="1047750"/>
            <a:ext cx="4186237" cy="384175"/>
          </a:xfrm>
          <a:prstGeom prst="wedgeRoundRectCallout">
            <a:avLst>
              <a:gd fmla="val -10984" name="adj1"/>
              <a:gd fmla="val 106929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(=4) is still less than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9"/>
          <p:cNvSpPr txBox="1"/>
          <p:nvPr/>
        </p:nvSpPr>
        <p:spPr>
          <a:xfrm>
            <a:off x="1922462" y="2890837"/>
            <a:ext cx="498475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9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28" name="Google Shape;728;p39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728" name="Google Shape;728;p3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0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735" name="Google Shape;735;p40"/>
          <p:cNvSpPr txBox="1"/>
          <p:nvPr>
            <p:ph idx="1" type="body"/>
          </p:nvPr>
        </p:nvSpPr>
        <p:spPr>
          <a:xfrm>
            <a:off x="2286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736" name="Google Shape;736;p40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fmla="val 5226" name="adj1"/>
              <a:gd fmla="val 122638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this, values[4] becomes 10 (4 + 6)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 txBox="1"/>
          <p:nvPr/>
        </p:nvSpPr>
        <p:spPr>
          <a:xfrm>
            <a:off x="615950" y="3236912"/>
            <a:ext cx="3417887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9" name="Google Shape;739;p40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>
              <mc:Choice Requires="v">
                <p:oleObj r:id="rId4" imgH="2103437" imgW="1958975" progId="Word.Picture.8" spid="_x0000_s1">
                  <p:embed/>
                </p:oleObj>
              </mc:Choice>
              <mc:Fallback>
                <p:oleObj r:id="rId5" imgH="2103437" imgW="1958975" progId="Word.Picture.8">
                  <p:embed/>
                  <p:pic>
                    <p:nvPicPr>
                      <p:cNvPr id="739" name="Google Shape;739;p4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40" name="Google Shape;740;p40"/>
          <p:cNvCxnSpPr/>
          <p:nvPr/>
        </p:nvCxnSpPr>
        <p:spPr>
          <a:xfrm>
            <a:off x="4071937" y="3390900"/>
            <a:ext cx="2189162" cy="536575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stealth"/>
          </a:ln>
        </p:spPr>
      </p:cxnSp>
      <p:sp>
        <p:nvSpPr>
          <p:cNvPr id="741" name="Google Shape;741;p40"/>
          <p:cNvSpPr txBox="1"/>
          <p:nvPr/>
        </p:nvSpPr>
        <p:spPr>
          <a:xfrm>
            <a:off x="6376987" y="3813175"/>
            <a:ext cx="76835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1"/>
          <p:cNvSpPr txBox="1"/>
          <p:nvPr>
            <p:ph type="title"/>
          </p:nvPr>
        </p:nvSpPr>
        <p:spPr>
          <a:xfrm>
            <a:off x="914400" y="277812"/>
            <a:ext cx="7772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748" name="Google Shape;748;p41"/>
          <p:cNvSpPr txBox="1"/>
          <p:nvPr>
            <p:ph idx="1" type="body"/>
          </p:nvPr>
        </p:nvSpPr>
        <p:spPr>
          <a:xfrm>
            <a:off x="838200" y="1946275"/>
            <a:ext cx="3810000" cy="45307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749" name="Google Shape;749;p41"/>
          <p:cNvSpPr/>
          <p:nvPr/>
        </p:nvSpPr>
        <p:spPr>
          <a:xfrm>
            <a:off x="4303712" y="1085850"/>
            <a:ext cx="4186237" cy="384175"/>
          </a:xfrm>
          <a:prstGeom prst="wedgeRoundRectCallout">
            <a:avLst>
              <a:gd fmla="val -6168" name="adj1"/>
              <a:gd fmla="val 92380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i++, i becomes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1"/>
          <p:cNvSpPr txBox="1"/>
          <p:nvPr/>
        </p:nvSpPr>
        <p:spPr>
          <a:xfrm>
            <a:off x="2728912" y="2738437"/>
            <a:ext cx="384175" cy="2301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1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2" name="Google Shape;752;p41"/>
          <p:cNvGraphicFramePr/>
          <p:nvPr/>
        </p:nvGraphicFramePr>
        <p:xfrm>
          <a:off x="6029325" y="2662237"/>
          <a:ext cx="2109787" cy="2489200"/>
        </p:xfrm>
        <a:graphic>
          <a:graphicData uri="http://schemas.openxmlformats.org/presentationml/2006/ole">
            <mc:AlternateContent>
              <mc:Choice Requires="v">
                <p:oleObj r:id="rId4" imgH="2489200" imgW="2109787" progId="Word.Picture.8" spid="_x0000_s1">
                  <p:embed/>
                </p:oleObj>
              </mc:Choice>
              <mc:Fallback>
                <p:oleObj r:id="rId5" imgH="2489200" imgW="2109787" progId="Word.Picture.8">
                  <p:embed/>
                  <p:pic>
                    <p:nvPicPr>
                      <p:cNvPr id="752" name="Google Shape;752;p41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029325" y="2662237"/>
                        <a:ext cx="2109787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2"/>
          <p:cNvSpPr txBox="1"/>
          <p:nvPr>
            <p:ph type="title"/>
          </p:nvPr>
        </p:nvSpPr>
        <p:spPr>
          <a:xfrm>
            <a:off x="914400" y="277812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759" name="Google Shape;759;p42"/>
          <p:cNvSpPr txBox="1"/>
          <p:nvPr>
            <p:ph idx="1" type="body"/>
          </p:nvPr>
        </p:nvSpPr>
        <p:spPr>
          <a:xfrm>
            <a:off x="498475" y="2209800"/>
            <a:ext cx="4378325" cy="26511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760" name="Google Shape;760;p42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fmla="val -377" name="adj1"/>
              <a:gd fmla="val 107375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( =5) &lt; 5 is false. Exit the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2"/>
          <p:cNvSpPr txBox="1"/>
          <p:nvPr/>
        </p:nvSpPr>
        <p:spPr>
          <a:xfrm>
            <a:off x="1922462" y="2928937"/>
            <a:ext cx="498475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2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3" name="Google Shape;763;p42"/>
          <p:cNvGraphicFramePr/>
          <p:nvPr/>
        </p:nvGraphicFramePr>
        <p:xfrm>
          <a:off x="5981700" y="2921000"/>
          <a:ext cx="1600200" cy="1889125"/>
        </p:xfrm>
        <a:graphic>
          <a:graphicData uri="http://schemas.openxmlformats.org/presentationml/2006/ole">
            <mc:AlternateContent>
              <mc:Choice Requires="v">
                <p:oleObj r:id="rId4" imgH="1889125" imgW="1600200" progId="Word.Picture.8" spid="_x0000_s1">
                  <p:embed/>
                </p:oleObj>
              </mc:Choice>
              <mc:Fallback>
                <p:oleObj r:id="rId5" imgH="1889125" imgW="1600200" progId="Word.Picture.8">
                  <p:embed/>
                  <p:pic>
                    <p:nvPicPr>
                      <p:cNvPr id="763" name="Google Shape;763;p42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981700" y="2921000"/>
                        <a:ext cx="1600200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3"/>
          <p:cNvSpPr txBox="1"/>
          <p:nvPr>
            <p:ph type="title"/>
          </p:nvPr>
        </p:nvSpPr>
        <p:spPr>
          <a:xfrm>
            <a:off x="1230312" y="228600"/>
            <a:ext cx="72278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Program with Arrays</a:t>
            </a:r>
            <a:endParaRPr/>
          </a:p>
        </p:txBody>
      </p:sp>
      <p:sp>
        <p:nvSpPr>
          <p:cNvPr id="770" name="Google Shape;770;p43"/>
          <p:cNvSpPr txBox="1"/>
          <p:nvPr>
            <p:ph idx="1" type="body"/>
          </p:nvPr>
        </p:nvSpPr>
        <p:spPr>
          <a:xfrm>
            <a:off x="3048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int[] values = new int[5];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for (int i = 1; i &lt; 5; i++)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values[i] = i + values[i-1];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values[0] = values[1] + values[4];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771" name="Google Shape;771;p43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fmla="val -3940" name="adj1"/>
              <a:gd fmla="val 156555" name="adj2"/>
              <a:gd fmla="val 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 line, values[0] is 11 (1 + 10)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3"/>
          <p:cNvSpPr txBox="1"/>
          <p:nvPr/>
        </p:nvSpPr>
        <p:spPr>
          <a:xfrm>
            <a:off x="539750" y="3851275"/>
            <a:ext cx="3494087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3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74" name="Google Shape;774;p43"/>
          <p:cNvGraphicFramePr/>
          <p:nvPr/>
        </p:nvGraphicFramePr>
        <p:xfrm>
          <a:off x="5838825" y="2044700"/>
          <a:ext cx="2290762" cy="2459037"/>
        </p:xfrm>
        <a:graphic>
          <a:graphicData uri="http://schemas.openxmlformats.org/presentationml/2006/ole">
            <mc:AlternateContent>
              <mc:Choice Requires="v">
                <p:oleObj r:id="rId4" imgH="2459037" imgW="2290762" progId="Word.Picture.8" spid="_x0000_s1">
                  <p:embed/>
                </p:oleObj>
              </mc:Choice>
              <mc:Fallback>
                <p:oleObj r:id="rId5" imgH="2459037" imgW="2290762" progId="Word.Picture.8">
                  <p:embed/>
                  <p:pic>
                    <p:nvPicPr>
                      <p:cNvPr id="774" name="Google Shape;774;p4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38825" y="2044700"/>
                        <a:ext cx="2290762" cy="245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75" name="Google Shape;775;p43"/>
          <p:cNvCxnSpPr/>
          <p:nvPr/>
        </p:nvCxnSpPr>
        <p:spPr>
          <a:xfrm flipH="1" rot="10800000">
            <a:off x="4033837" y="2890837"/>
            <a:ext cx="2381250" cy="998537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stealth"/>
          </a:ln>
        </p:spPr>
      </p:cxnSp>
      <p:sp>
        <p:nvSpPr>
          <p:cNvPr id="776" name="Google Shape;776;p43"/>
          <p:cNvSpPr txBox="1"/>
          <p:nvPr/>
        </p:nvSpPr>
        <p:spPr>
          <a:xfrm>
            <a:off x="6530975" y="2928937"/>
            <a:ext cx="768350" cy="268287"/>
          </a:xfrm>
          <a:prstGeom prst="rect">
            <a:avLst/>
          </a:prstGeom>
          <a:solidFill>
            <a:schemeClr val="accent1">
              <a:alpha val="44313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4"/>
          <p:cNvSpPr txBox="1"/>
          <p:nvPr>
            <p:ph type="title"/>
          </p:nvPr>
        </p:nvSpPr>
        <p:spPr>
          <a:xfrm>
            <a:off x="1219200" y="152400"/>
            <a:ext cx="7239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b="1" i="0" lang="en-US" sz="41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</a:t>
            </a:r>
            <a:r>
              <a:rPr b="1" i="0" lang="en-US" sz="41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1" i="0" lang="en-US" sz="41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Loop</a:t>
            </a:r>
            <a:endParaRPr/>
          </a:p>
        </p:txBody>
      </p:sp>
      <p:sp>
        <p:nvSpPr>
          <p:cNvPr id="783" name="Google Shape;783;p44"/>
          <p:cNvSpPr txBox="1"/>
          <p:nvPr>
            <p:ph idx="1" type="body"/>
          </p:nvPr>
        </p:nvSpPr>
        <p:spPr>
          <a:xfrm>
            <a:off x="6096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JDK 1.5 and above introduced a new for loop that enables you to traverse the complete array sequentially without using an index variable. For example, the following code displays all elements in the array 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scoreArray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26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for(int val : scoreArray)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System.out.println(val);</a:t>
            </a:r>
            <a:endParaRPr b="1" i="0" sz="2400" u="none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the syntax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26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for (elementType value: arrayRefVar) {</a:t>
            </a:r>
            <a:endParaRPr b="1" i="0" sz="2600" u="none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 // Process the value</a:t>
            </a:r>
            <a:endParaRPr b="1" i="0" sz="2400" u="none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400" u="none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still have to use an index variable if you wish to traverse the array in a different order or change the elements in the array.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5"/>
          <p:cNvSpPr txBox="1"/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Processing</a:t>
            </a:r>
            <a:endParaRPr/>
          </a:p>
        </p:txBody>
      </p:sp>
      <p:sp>
        <p:nvSpPr>
          <p:cNvPr id="790" name="Google Shape;790;p45"/>
          <p:cNvSpPr txBox="1"/>
          <p:nvPr>
            <p:ph idx="1" type="body"/>
          </p:nvPr>
        </p:nvSpPr>
        <p:spPr>
          <a:xfrm>
            <a:off x="685800" y="1600200"/>
            <a:ext cx="8153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(Printing arrays)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(Summing all elements)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(Finding the largest element)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(Finding the smallest index of the largest element)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Print an Array</a:t>
            </a:r>
            <a:endParaRPr/>
          </a:p>
        </p:txBody>
      </p:sp>
      <p:sp>
        <p:nvSpPr>
          <p:cNvPr id="797" name="Google Shape;797;p46"/>
          <p:cNvSpPr txBox="1"/>
          <p:nvPr/>
        </p:nvSpPr>
        <p:spPr>
          <a:xfrm>
            <a:off x="749300" y="2159000"/>
            <a:ext cx="7707312" cy="2870200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PrintArrays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static final int ARRSIZE = 10;     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The array's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static int intArr[] = new int[ARRSIZE];  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Create the int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static double realArr[] = { 1.1, 2.2, 3.3, 4.4,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5.5, 6.6, 7.7, 8.8, 9.9, 10.10 };  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And a double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 static void main(String args[])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System.out.println("Ints \t Reals");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for (int k = 0; k &lt; intArr.length; k++)</a:t>
            </a:r>
            <a:endParaRPr b="1" i="0" sz="1400" u="none" cap="none" strike="noStrike">
              <a:solidFill>
                <a:srgbClr val="FF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System.out.println( intArr[k] + " \t " + realArr[k]);    </a:t>
            </a:r>
            <a:endParaRPr b="1" i="0" sz="1400" u="none" cap="none" strike="noStrike">
              <a:solidFill>
                <a:srgbClr val="FF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PrintArrays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6"/>
          <p:cNvSpPr txBox="1"/>
          <p:nvPr/>
        </p:nvSpPr>
        <p:spPr>
          <a:xfrm>
            <a:off x="609600" y="1582737"/>
            <a:ext cx="7945437" cy="4746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an array of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an array of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6"/>
          <p:cNvSpPr txBox="1"/>
          <p:nvPr/>
        </p:nvSpPr>
        <p:spPr>
          <a:xfrm>
            <a:off x="7307262" y="4562475"/>
            <a:ext cx="1608137" cy="1939925"/>
          </a:xfrm>
          <a:prstGeom prst="rect">
            <a:avLst/>
          </a:prstGeom>
          <a:solidFill>
            <a:srgbClr val="DDDDDD"/>
          </a:solidFill>
          <a:ln cap="flat" cmpd="sng" w="1905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Program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Ints      Reals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0         4.4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0         5.5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0         6.6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0         7.7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0         8.8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0         9.9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0         10.1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6"/>
          <p:cNvSpPr/>
          <p:nvPr/>
        </p:nvSpPr>
        <p:spPr>
          <a:xfrm>
            <a:off x="4868862" y="5486400"/>
            <a:ext cx="1957387" cy="1323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847" y="33403"/>
                </a:moveTo>
                <a:lnTo>
                  <a:pt x="2462" y="26929"/>
                </a:lnTo>
              </a:path>
            </a:pathLst>
          </a:custGeom>
          <a:solidFill>
            <a:schemeClr val="accent1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Uninitialized int array has default values of 0.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6"/>
          <p:cNvSpPr/>
          <p:nvPr/>
        </p:nvSpPr>
        <p:spPr>
          <a:xfrm>
            <a:off x="7694612" y="2133600"/>
            <a:ext cx="1144587" cy="1019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8532" y="-115975"/>
                </a:moveTo>
                <a:lnTo>
                  <a:pt x="2906" y="-1726"/>
                </a:lnTo>
              </a:path>
            </a:pathLst>
          </a:custGeom>
          <a:solidFill>
            <a:schemeClr val="accent1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must be static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6"/>
          <p:cNvSpPr/>
          <p:nvPr/>
        </p:nvSpPr>
        <p:spPr>
          <a:xfrm>
            <a:off x="1135062" y="5153025"/>
            <a:ext cx="2155825" cy="1019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3296" y="30444"/>
                </a:moveTo>
                <a:lnTo>
                  <a:pt x="2906" y="26836"/>
                </a:lnTo>
              </a:path>
            </a:pathLst>
          </a:custGeom>
          <a:solidFill>
            <a:schemeClr val="accent1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 in order to refer to them in static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Store the First 100 Squares</a:t>
            </a:r>
            <a:endParaRPr/>
          </a:p>
        </p:txBody>
      </p:sp>
      <p:sp>
        <p:nvSpPr>
          <p:cNvPr id="809" name="Google Shape;809;p47"/>
          <p:cNvSpPr txBox="1"/>
          <p:nvPr/>
        </p:nvSpPr>
        <p:spPr>
          <a:xfrm>
            <a:off x="752475" y="1527175"/>
            <a:ext cx="7707312" cy="4146550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Squares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final int ARRSIZE = 100;         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The array's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int intArr[] = new int[ARRSIZE]; 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Create an int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 args[])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k = 0; k &lt; intArr.length; k++)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Initialize the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intArr[k] = (k+1) * (k+1);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System.out.print("The first 100 squares are");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Print a 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k = 0; k &lt; intArr.length; k++)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{    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Print the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(k % 10 ==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System.out.println(" ");    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10 elements per row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System.out.print( intArr[k] + " 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i="0" lang="en-US" sz="14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// Squares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7"/>
          <p:cNvSpPr txBox="1"/>
          <p:nvPr/>
        </p:nvSpPr>
        <p:spPr>
          <a:xfrm>
            <a:off x="4953000" y="5029200"/>
            <a:ext cx="3984625" cy="2092325"/>
          </a:xfrm>
          <a:prstGeom prst="rect">
            <a:avLst/>
          </a:prstGeom>
          <a:solidFill>
            <a:srgbClr val="DDDDDD"/>
          </a:solidFill>
          <a:ln cap="flat" cmpd="sng" w="1905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Program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first 100 squares are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1 4 9 16 25 36 49 64 81 100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121 144 169 196 225 256 289 324 361 400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441 484 529 576 625 676 729 784 841 900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961 1024 1089 1156 1225 1296 1369 1444 1521 1600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1681 1764 1849 1936 2025 2116 2209 2304 2401 2500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2601 2704 2809 2916 3025 3136 3249 3364 3481 3600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3721 3844 3969 4096 4225 4356 4489 4624 4761 4900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5041 5184 5329 5476 5625 5776 5929 6084 6241 6400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6561 6724 6889 7056 7225 7396 7569 7744 7921 8100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8281 8464 8649 8836 9025 9216 9409 9604 9801 10000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1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1 (Question 1)</a:t>
            </a:r>
            <a:endParaRPr/>
          </a:p>
        </p:txBody>
      </p:sp>
      <p:sp>
        <p:nvSpPr>
          <p:cNvPr id="816" name="Google Shape;816;p48"/>
          <p:cNvSpPr txBox="1"/>
          <p:nvPr>
            <p:ph idx="1" type="body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Modify program </a:t>
            </a:r>
            <a:r>
              <a:rPr b="1" i="0" lang="en-US" sz="20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ArrayDemo</a:t>
            </a: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and save as </a:t>
            </a:r>
            <a:r>
              <a:rPr b="1" i="0" lang="en-US" sz="20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ArrayDemo1</a:t>
            </a: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Initialize the elements in one initialization statement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20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260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ArrayDemo {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97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 {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int[] anArray; // declares an array of integers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 = new int[10]; </a:t>
            </a: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allocates memory for 10 integers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anArray[0] = 100; // initialize first element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anArray[1] = 200; // initialize second element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anArray[2] = 300; // etc.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anArray[3] = 400;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anArray[4] = 500;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anArray[5] = 600;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anArray[6] = 700;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anArray[7] = 800;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anArray[8] = 900;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b="1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anArray[9] = 1000;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t/>
            </a:r>
            <a:endParaRPr b="1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t/>
            </a:r>
            <a:endParaRPr b="1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double[] myList = {5.6, 4.5, 3.3, 13.2, 4, 34.33,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		34, 45.45, 99.993, 11.3};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2000" u="none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1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1 (Question 1) cont.</a:t>
            </a:r>
            <a:endParaRPr/>
          </a:p>
        </p:txBody>
      </p:sp>
      <p:sp>
        <p:nvSpPr>
          <p:cNvPr id="822" name="Google Shape;822;p49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traditional for loop</a:t>
            </a: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to print all the values</a:t>
            </a:r>
            <a:r>
              <a:rPr b="1" i="0" lang="en-US" sz="1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4003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None/>
            </a:pPr>
            <a:r>
              <a:t/>
            </a:r>
            <a:endParaRPr b="1" i="0" sz="1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0: " + anArray[0]);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1: " + anArray[1]);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2: " + anArray[2]);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3: " + anArray[3]);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4: " + anArray[4]);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5: " + anArray[5]);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6: " + anArray[6]);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7: " + anArray[7]);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8: " + anArray[8]);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System.out.println("Element at index 9: " + anArray[9]);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50"/>
          <p:cNvSpPr txBox="1"/>
          <p:nvPr>
            <p:ph idx="1" type="body"/>
          </p:nvPr>
        </p:nvSpPr>
        <p:spPr>
          <a:xfrm>
            <a:off x="685800" y="1600200"/>
            <a:ext cx="84582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ArrayDemo1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public static void main(String[] args)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int anArray[] = {100, 200, 300, 400,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            500, 600, 700, 800, 900, 1000};</a:t>
            </a:r>
            <a:endParaRPr/>
          </a:p>
          <a:p>
            <a:pPr indent="-18288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None/>
            </a:pPr>
            <a:r>
              <a:t/>
            </a:r>
            <a:endParaRPr b="1" i="0" sz="2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for (int i = 0; i &lt; anArray.length; i++)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	System.out.println("Element at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                index" + i + ": " + anArray[i]);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1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1 (Question 2) cont.</a:t>
            </a:r>
            <a:endParaRPr/>
          </a:p>
        </p:txBody>
      </p:sp>
      <p:sp>
        <p:nvSpPr>
          <p:cNvPr id="834" name="Google Shape;834;p51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Modify program ArrayDemo1 and save as ArrayDemo2 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AutoNum type="arabicPeriod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enhanced for loop / for-each loop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to print all the values</a:t>
            </a:r>
            <a:r>
              <a:rPr b="1" i="0" lang="en-US" sz="32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 i="0" sz="24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 i="0" sz="24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0" name="Google Shape;840;p52"/>
          <p:cNvSpPr txBox="1"/>
          <p:nvPr>
            <p:ph idx="1" type="body"/>
          </p:nvPr>
        </p:nvSpPr>
        <p:spPr>
          <a:xfrm>
            <a:off x="914400" y="1514650"/>
            <a:ext cx="77724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ArrayDemo2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public static void main(String[] args)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int anArray[] = {100, 200, 300, 400,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                     500, 600, 700, 800, 900, 1000};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for (int i: anArray)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	System.out.println(i);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53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output from this program is: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0: 100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1: 200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2: 300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3: 400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4: 500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5: 600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6: 700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7: 800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8: 900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Element at index 9: 1000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4"/>
          <p:cNvSpPr txBox="1"/>
          <p:nvPr>
            <p:ph type="title"/>
          </p:nvPr>
        </p:nvSpPr>
        <p:spPr>
          <a:xfrm>
            <a:off x="609600" y="3810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Testing Arrays</a:t>
            </a:r>
            <a:endParaRPr/>
          </a:p>
        </p:txBody>
      </p:sp>
      <p:sp>
        <p:nvSpPr>
          <p:cNvPr id="853" name="Google Shape;853;p54"/>
          <p:cNvSpPr txBox="1"/>
          <p:nvPr>
            <p:ph idx="1" type="body"/>
          </p:nvPr>
        </p:nvSpPr>
        <p:spPr>
          <a:xfrm>
            <a:off x="914400" y="1873250"/>
            <a:ext cx="7772400" cy="3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Write a program that receives 6 numbers from the user, finds the largest number and counts the occurrence of the largest number entered.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Suppose you entered 3, 5, 2, 5, 5, and 5, the largest number is 5 and its occurrence count is 4.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5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55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an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array sized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array-length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 to receive the input from keyboard using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scanner 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a pair numbers and store the larger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the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occurrences</a:t>
            </a:r>
            <a:endParaRPr/>
          </a:p>
          <a:p>
            <a:pPr indent="-18288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None/>
            </a:pPr>
            <a:r>
              <a:t/>
            </a:r>
            <a:endParaRPr b="1" i="0" sz="2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None/>
            </a:pPr>
            <a:r>
              <a:t/>
            </a:r>
            <a:endParaRPr b="1" i="0" sz="2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b="1" i="0" sz="28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2006-06-28T03:40:23Z</dcterms:created>
  <dc:creator>Norazah</dc:creator>
</cp:coreProperties>
</file>